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Calibri" panose="020F0502020204030204" pitchFamily="34" charset="0"/>
      <p:regular r:id="rId14"/>
      <p:bold r:id="rId15"/>
      <p:italic r:id="rId16"/>
      <p:boldItalic r:id="rId17"/>
    </p:embeddedFont>
    <p:embeddedFont>
      <p:font typeface="Barlow" panose="020B0604020202020204" charset="0"/>
      <p:regular r:id="rId18"/>
    </p:embeddedFont>
    <p:embeddedFont>
      <p:font typeface="Maiandra GD" panose="020E0502030308020204" pitchFamily="34" charset="0"/>
      <p:regular r:id="rId19"/>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46" autoAdjust="0"/>
    <p:restoredTop sz="94610"/>
  </p:normalViewPr>
  <p:slideViewPr>
    <p:cSldViewPr snapToGrid="0" snapToObjects="1">
      <p:cViewPr varScale="1">
        <p:scale>
          <a:sx n="88" d="100"/>
          <a:sy n="88" d="100"/>
        </p:scale>
        <p:origin x="9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936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054250" y="2296477"/>
            <a:ext cx="7379746" cy="1371600"/>
          </a:xfrm>
          <a:prstGeom prst="rect">
            <a:avLst/>
          </a:prstGeom>
          <a:noFill/>
          <a:ln/>
        </p:spPr>
        <p:txBody>
          <a:bodyPr wrap="squar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Algorithmes et Programmation</a:t>
            </a:r>
            <a:endParaRPr lang="en-US" sz="4300" dirty="0"/>
          </a:p>
        </p:txBody>
      </p:sp>
      <p:sp>
        <p:nvSpPr>
          <p:cNvPr id="4" name="Text 1"/>
          <p:cNvSpPr/>
          <p:nvPr/>
        </p:nvSpPr>
        <p:spPr>
          <a:xfrm>
            <a:off x="1054250" y="4038362"/>
            <a:ext cx="7379746"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Bienvenue à cette présentation explorant le monde des algorithmes et de la programmation. Nous découvrirons les fondements de ces concepts et leurs applications dans notre monde numérique.</a:t>
            </a:r>
            <a:endParaRPr lang="en-US" sz="1900" dirty="0"/>
          </a:p>
        </p:txBody>
      </p:sp>
      <p:sp>
        <p:nvSpPr>
          <p:cNvPr id="7" name="Text 3"/>
          <p:cNvSpPr/>
          <p:nvPr/>
        </p:nvSpPr>
        <p:spPr>
          <a:xfrm>
            <a:off x="1561103" y="5501164"/>
            <a:ext cx="2719154" cy="431959"/>
          </a:xfrm>
          <a:prstGeom prst="rect">
            <a:avLst/>
          </a:prstGeom>
          <a:noFill/>
          <a:ln/>
        </p:spPr>
        <p:txBody>
          <a:bodyPr wrap="none" lIns="0" tIns="0" rIns="0" bIns="0" rtlCol="0" anchor="t"/>
          <a:lstStyle/>
          <a:p>
            <a:pPr marL="0" indent="0" algn="l">
              <a:lnSpc>
                <a:spcPts val="3400"/>
              </a:lnSpc>
              <a:buNone/>
            </a:pPr>
            <a:endParaRPr lang="en-US" sz="2400" dirty="0"/>
          </a:p>
        </p:txBody>
      </p:sp>
      <p:sp>
        <p:nvSpPr>
          <p:cNvPr id="12" name="TextBox 11"/>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80">
                                          <p:stCondLst>
                                            <p:cond delay="0"/>
                                          </p:stCondLst>
                                        </p:cTn>
                                        <p:tgtEl>
                                          <p:spTgt spid="2"/>
                                        </p:tgtEl>
                                      </p:cBhvr>
                                    </p:animEffect>
                                    <p:anim calcmode="lin" valueType="num">
                                      <p:cBhvr>
                                        <p:cTn id="13"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8" dur="26">
                                          <p:stCondLst>
                                            <p:cond delay="650"/>
                                          </p:stCondLst>
                                        </p:cTn>
                                        <p:tgtEl>
                                          <p:spTgt spid="2"/>
                                        </p:tgtEl>
                                      </p:cBhvr>
                                      <p:to x="100000" y="60000"/>
                                    </p:animScale>
                                    <p:animScale>
                                      <p:cBhvr>
                                        <p:cTn id="19" dur="166" decel="50000">
                                          <p:stCondLst>
                                            <p:cond delay="676"/>
                                          </p:stCondLst>
                                        </p:cTn>
                                        <p:tgtEl>
                                          <p:spTgt spid="2"/>
                                        </p:tgtEl>
                                      </p:cBhvr>
                                      <p:to x="100000" y="100000"/>
                                    </p:animScale>
                                    <p:animScale>
                                      <p:cBhvr>
                                        <p:cTn id="20" dur="26">
                                          <p:stCondLst>
                                            <p:cond delay="1312"/>
                                          </p:stCondLst>
                                        </p:cTn>
                                        <p:tgtEl>
                                          <p:spTgt spid="2"/>
                                        </p:tgtEl>
                                      </p:cBhvr>
                                      <p:to x="100000" y="80000"/>
                                    </p:animScale>
                                    <p:animScale>
                                      <p:cBhvr>
                                        <p:cTn id="21" dur="166" decel="50000">
                                          <p:stCondLst>
                                            <p:cond delay="1338"/>
                                          </p:stCondLst>
                                        </p:cTn>
                                        <p:tgtEl>
                                          <p:spTgt spid="2"/>
                                        </p:tgtEl>
                                      </p:cBhvr>
                                      <p:to x="100000" y="100000"/>
                                    </p:animScale>
                                    <p:animScale>
                                      <p:cBhvr>
                                        <p:cTn id="22" dur="26">
                                          <p:stCondLst>
                                            <p:cond delay="1642"/>
                                          </p:stCondLst>
                                        </p:cTn>
                                        <p:tgtEl>
                                          <p:spTgt spid="2"/>
                                        </p:tgtEl>
                                      </p:cBhvr>
                                      <p:to x="100000" y="90000"/>
                                    </p:animScale>
                                    <p:animScale>
                                      <p:cBhvr>
                                        <p:cTn id="23" dur="166" decel="50000">
                                          <p:stCondLst>
                                            <p:cond delay="1668"/>
                                          </p:stCondLst>
                                        </p:cTn>
                                        <p:tgtEl>
                                          <p:spTgt spid="2"/>
                                        </p:tgtEl>
                                      </p:cBhvr>
                                      <p:to x="100000" y="100000"/>
                                    </p:animScale>
                                    <p:animScale>
                                      <p:cBhvr>
                                        <p:cTn id="24" dur="26">
                                          <p:stCondLst>
                                            <p:cond delay="1808"/>
                                          </p:stCondLst>
                                        </p:cTn>
                                        <p:tgtEl>
                                          <p:spTgt spid="2"/>
                                        </p:tgtEl>
                                      </p:cBhvr>
                                      <p:to x="100000" y="95000"/>
                                    </p:animScale>
                                    <p:animScale>
                                      <p:cBhvr>
                                        <p:cTn id="25" dur="166" decel="50000">
                                          <p:stCondLst>
                                            <p:cond delay="1834"/>
                                          </p:stCondLst>
                                        </p:cTn>
                                        <p:tgtEl>
                                          <p:spTgt spid="2"/>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down)">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2464832"/>
            <a:ext cx="7349966"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Qu'est-ce qu'un algorithme ?</a:t>
            </a:r>
            <a:endParaRPr lang="en-US" sz="4300" dirty="0"/>
          </a:p>
        </p:txBody>
      </p:sp>
      <p:sp>
        <p:nvSpPr>
          <p:cNvPr id="3" name="Text 1"/>
          <p:cNvSpPr/>
          <p:nvPr/>
        </p:nvSpPr>
        <p:spPr>
          <a:xfrm>
            <a:off x="864037" y="3767733"/>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Définition</a:t>
            </a:r>
            <a:endParaRPr lang="en-US" sz="2150" dirty="0"/>
          </a:p>
        </p:txBody>
      </p:sp>
      <p:sp>
        <p:nvSpPr>
          <p:cNvPr id="4" name="Text 2"/>
          <p:cNvSpPr/>
          <p:nvPr/>
        </p:nvSpPr>
        <p:spPr>
          <a:xfrm>
            <a:off x="864037" y="4357449"/>
            <a:ext cx="6150054"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Un algorithme est une séquence d'étapes bien définies pour résoudre un problème ou atteindre un objectif spécifique.</a:t>
            </a:r>
            <a:endParaRPr lang="en-US" sz="1900" dirty="0"/>
          </a:p>
        </p:txBody>
      </p:sp>
      <p:sp>
        <p:nvSpPr>
          <p:cNvPr id="6" name="Text 4"/>
          <p:cNvSpPr/>
          <p:nvPr/>
        </p:nvSpPr>
        <p:spPr>
          <a:xfrm>
            <a:off x="7623929" y="4357449"/>
            <a:ext cx="6150054"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Recette de cuisine, instructions de montage, navigation GPS. Chaque étape est clairement définie pour un résultat final.</a:t>
            </a:r>
            <a:endParaRPr lang="en-US" sz="1900" dirty="0"/>
          </a:p>
        </p:txBody>
      </p:sp>
      <p:sp>
        <p:nvSpPr>
          <p:cNvPr id="7" name="Text 3"/>
          <p:cNvSpPr/>
          <p:nvPr/>
        </p:nvSpPr>
        <p:spPr>
          <a:xfrm>
            <a:off x="7776329" y="3920133"/>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Exemples</a:t>
            </a:r>
            <a:endParaRPr lang="en-US" sz="2150" dirty="0"/>
          </a:p>
        </p:txBody>
      </p:sp>
      <p:sp>
        <p:nvSpPr>
          <p:cNvPr id="9" name="TextBox 8"/>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5" name="TextBox 24"/>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pic>
        <p:nvPicPr>
          <p:cNvPr id="2" name="Image 0" descr="preencoded.png"/>
          <p:cNvPicPr>
            <a:picLocks noChangeAspect="1"/>
          </p:cNvPicPr>
          <p:nvPr/>
        </p:nvPicPr>
        <p:blipFill>
          <a:blip r:embed="rId3"/>
          <a:stretch>
            <a:fillRect/>
          </a:stretch>
        </p:blipFill>
        <p:spPr>
          <a:xfrm>
            <a:off x="9144000" y="-4048"/>
            <a:ext cx="5486400" cy="8233648"/>
          </a:xfrm>
          <a:prstGeom prst="rect">
            <a:avLst/>
          </a:prstGeom>
        </p:spPr>
      </p:pic>
      <p:sp>
        <p:nvSpPr>
          <p:cNvPr id="3" name="Text 0"/>
          <p:cNvSpPr/>
          <p:nvPr/>
        </p:nvSpPr>
        <p:spPr>
          <a:xfrm>
            <a:off x="729377" y="573048"/>
            <a:ext cx="7685246" cy="1157764"/>
          </a:xfrm>
          <a:prstGeom prst="rect">
            <a:avLst/>
          </a:prstGeom>
          <a:noFill/>
          <a:ln/>
        </p:spPr>
        <p:txBody>
          <a:bodyPr wrap="square" lIns="0" tIns="0" rIns="0" bIns="0" rtlCol="0" anchor="t"/>
          <a:lstStyle/>
          <a:p>
            <a:pPr marL="0" indent="0">
              <a:lnSpc>
                <a:spcPts val="4550"/>
              </a:lnSpc>
              <a:buNone/>
            </a:pPr>
            <a:r>
              <a:rPr lang="en-US" sz="3600" b="1" dirty="0">
                <a:solidFill>
                  <a:srgbClr val="F0FCFF"/>
                </a:solidFill>
                <a:latin typeface="Spline Sans Bold" pitchFamily="34" charset="0"/>
                <a:ea typeface="Spline Sans Bold" pitchFamily="34" charset="-122"/>
                <a:cs typeface="Spline Sans Bold" pitchFamily="34" charset="-120"/>
              </a:rPr>
              <a:t>Étapes de la Conception d'un Algorithme</a:t>
            </a:r>
            <a:endParaRPr lang="en-US" sz="3600" dirty="0"/>
          </a:p>
        </p:txBody>
      </p:sp>
      <p:sp>
        <p:nvSpPr>
          <p:cNvPr id="4" name="Shape 1"/>
          <p:cNvSpPr/>
          <p:nvPr/>
        </p:nvSpPr>
        <p:spPr>
          <a:xfrm>
            <a:off x="1030486" y="2043351"/>
            <a:ext cx="22860" cy="5617250"/>
          </a:xfrm>
          <a:prstGeom prst="roundRect">
            <a:avLst>
              <a:gd name="adj" fmla="val 1367580"/>
            </a:avLst>
          </a:prstGeom>
          <a:solidFill>
            <a:srgbClr val="FFFFFF">
              <a:alpha val="24000"/>
            </a:srgbClr>
          </a:solidFill>
          <a:ln/>
        </p:spPr>
      </p:sp>
      <p:sp>
        <p:nvSpPr>
          <p:cNvPr id="5" name="Shape 2"/>
          <p:cNvSpPr/>
          <p:nvPr/>
        </p:nvSpPr>
        <p:spPr>
          <a:xfrm>
            <a:off x="1253490" y="2500789"/>
            <a:ext cx="729377" cy="22860"/>
          </a:xfrm>
          <a:prstGeom prst="roundRect">
            <a:avLst>
              <a:gd name="adj" fmla="val 1367580"/>
            </a:avLst>
          </a:prstGeom>
          <a:solidFill>
            <a:srgbClr val="16FFBB"/>
          </a:solidFill>
          <a:ln/>
        </p:spPr>
      </p:sp>
      <p:sp>
        <p:nvSpPr>
          <p:cNvPr id="6" name="Shape 3"/>
          <p:cNvSpPr/>
          <p:nvPr/>
        </p:nvSpPr>
        <p:spPr>
          <a:xfrm>
            <a:off x="807482" y="2277785"/>
            <a:ext cx="468868" cy="468868"/>
          </a:xfrm>
          <a:prstGeom prst="roundRect">
            <a:avLst>
              <a:gd name="adj" fmla="val 66677"/>
            </a:avLst>
          </a:prstGeom>
          <a:solidFill>
            <a:srgbClr val="0A081B"/>
          </a:solidFill>
          <a:ln w="22860">
            <a:solidFill>
              <a:srgbClr val="16FFBB"/>
            </a:solidFill>
            <a:prstDash val="solid"/>
          </a:ln>
        </p:spPr>
      </p:sp>
      <p:sp>
        <p:nvSpPr>
          <p:cNvPr id="7" name="Text 4"/>
          <p:cNvSpPr/>
          <p:nvPr/>
        </p:nvSpPr>
        <p:spPr>
          <a:xfrm>
            <a:off x="981789" y="2373273"/>
            <a:ext cx="120253" cy="277892"/>
          </a:xfrm>
          <a:prstGeom prst="rect">
            <a:avLst/>
          </a:prstGeom>
          <a:noFill/>
          <a:ln/>
        </p:spPr>
        <p:txBody>
          <a:bodyPr wrap="none" lIns="0" tIns="0" rIns="0" bIns="0" rtlCol="0" anchor="t"/>
          <a:lstStyle/>
          <a:p>
            <a:pPr marL="0" indent="0" algn="ctr">
              <a:lnSpc>
                <a:spcPts val="2150"/>
              </a:lnSpc>
              <a:buNone/>
            </a:pPr>
            <a:r>
              <a:rPr lang="en-US" sz="2150" b="1" dirty="0">
                <a:solidFill>
                  <a:srgbClr val="E0E4E6"/>
                </a:solidFill>
                <a:latin typeface="Spline Sans Bold" pitchFamily="34" charset="0"/>
                <a:ea typeface="Spline Sans Bold" pitchFamily="34" charset="-122"/>
                <a:cs typeface="Spline Sans Bold" pitchFamily="34" charset="-120"/>
              </a:rPr>
              <a:t>1</a:t>
            </a:r>
            <a:endParaRPr lang="en-US" sz="2150" dirty="0"/>
          </a:p>
        </p:txBody>
      </p:sp>
      <p:sp>
        <p:nvSpPr>
          <p:cNvPr id="8" name="Text 5"/>
          <p:cNvSpPr/>
          <p:nvPr/>
        </p:nvSpPr>
        <p:spPr>
          <a:xfrm>
            <a:off x="2188131" y="2251710"/>
            <a:ext cx="2489597" cy="289441"/>
          </a:xfrm>
          <a:prstGeom prst="rect">
            <a:avLst/>
          </a:prstGeom>
          <a:noFill/>
          <a:ln/>
        </p:spPr>
        <p:txBody>
          <a:bodyPr wrap="none" lIns="0" tIns="0" rIns="0" bIns="0" rtlCol="0" anchor="t"/>
          <a:lstStyle/>
          <a:p>
            <a:pPr marL="0" indent="0" algn="l">
              <a:lnSpc>
                <a:spcPts val="2250"/>
              </a:lnSpc>
              <a:buNone/>
            </a:pPr>
            <a:r>
              <a:rPr lang="en-US" sz="1800" b="1" dirty="0">
                <a:solidFill>
                  <a:srgbClr val="E0E4E6"/>
                </a:solidFill>
                <a:latin typeface="Spline Sans Bold" pitchFamily="34" charset="0"/>
                <a:ea typeface="Spline Sans Bold" pitchFamily="34" charset="-122"/>
                <a:cs typeface="Spline Sans Bold" pitchFamily="34" charset="-120"/>
              </a:rPr>
              <a:t>Définition du problème</a:t>
            </a:r>
            <a:endParaRPr lang="en-US" sz="1800" dirty="0"/>
          </a:p>
        </p:txBody>
      </p:sp>
      <p:sp>
        <p:nvSpPr>
          <p:cNvPr id="9" name="Text 6"/>
          <p:cNvSpPr/>
          <p:nvPr/>
        </p:nvSpPr>
        <p:spPr>
          <a:xfrm>
            <a:off x="2188131" y="2666167"/>
            <a:ext cx="6226493" cy="333494"/>
          </a:xfrm>
          <a:prstGeom prst="rect">
            <a:avLst/>
          </a:prstGeom>
          <a:noFill/>
          <a:ln/>
        </p:spPr>
        <p:txBody>
          <a:bodyPr wrap="none" lIns="0" tIns="0" rIns="0" bIns="0" rtlCol="0" anchor="t"/>
          <a:lstStyle/>
          <a:p>
            <a:pPr marL="0" indent="0" algn="l">
              <a:lnSpc>
                <a:spcPts val="2600"/>
              </a:lnSpc>
              <a:buNone/>
            </a:pPr>
            <a:r>
              <a:rPr lang="en-US" sz="1600" dirty="0">
                <a:solidFill>
                  <a:srgbClr val="E0E4E6"/>
                </a:solidFill>
                <a:latin typeface="Barlow" pitchFamily="34" charset="0"/>
                <a:ea typeface="Barlow" pitchFamily="34" charset="-122"/>
                <a:cs typeface="Barlow" pitchFamily="34" charset="-120"/>
              </a:rPr>
              <a:t>Comprendre clairement l'objectif et les contraintes.</a:t>
            </a:r>
            <a:endParaRPr lang="en-US" sz="1600" dirty="0"/>
          </a:p>
        </p:txBody>
      </p:sp>
      <p:sp>
        <p:nvSpPr>
          <p:cNvPr id="10" name="Shape 7"/>
          <p:cNvSpPr/>
          <p:nvPr/>
        </p:nvSpPr>
        <p:spPr>
          <a:xfrm>
            <a:off x="1253490" y="3873818"/>
            <a:ext cx="729377" cy="22860"/>
          </a:xfrm>
          <a:prstGeom prst="roundRect">
            <a:avLst>
              <a:gd name="adj" fmla="val 1367580"/>
            </a:avLst>
          </a:prstGeom>
          <a:solidFill>
            <a:srgbClr val="29DDDA"/>
          </a:solidFill>
          <a:ln/>
        </p:spPr>
      </p:sp>
      <p:sp>
        <p:nvSpPr>
          <p:cNvPr id="11" name="Shape 8"/>
          <p:cNvSpPr/>
          <p:nvPr/>
        </p:nvSpPr>
        <p:spPr>
          <a:xfrm>
            <a:off x="807482" y="3650813"/>
            <a:ext cx="468868" cy="468868"/>
          </a:xfrm>
          <a:prstGeom prst="roundRect">
            <a:avLst>
              <a:gd name="adj" fmla="val 66677"/>
            </a:avLst>
          </a:prstGeom>
          <a:solidFill>
            <a:srgbClr val="0A081B"/>
          </a:solidFill>
          <a:ln w="22860">
            <a:solidFill>
              <a:srgbClr val="29DDDA"/>
            </a:solidFill>
            <a:prstDash val="solid"/>
          </a:ln>
        </p:spPr>
      </p:sp>
      <p:sp>
        <p:nvSpPr>
          <p:cNvPr id="12" name="Text 9"/>
          <p:cNvSpPr/>
          <p:nvPr/>
        </p:nvSpPr>
        <p:spPr>
          <a:xfrm>
            <a:off x="964644" y="3746302"/>
            <a:ext cx="154543" cy="277892"/>
          </a:xfrm>
          <a:prstGeom prst="rect">
            <a:avLst/>
          </a:prstGeom>
          <a:noFill/>
          <a:ln/>
        </p:spPr>
        <p:txBody>
          <a:bodyPr wrap="none" lIns="0" tIns="0" rIns="0" bIns="0" rtlCol="0" anchor="t"/>
          <a:lstStyle/>
          <a:p>
            <a:pPr marL="0" indent="0" algn="ctr">
              <a:lnSpc>
                <a:spcPts val="2150"/>
              </a:lnSpc>
              <a:buNone/>
            </a:pPr>
            <a:r>
              <a:rPr lang="en-US" sz="2150" b="1" dirty="0">
                <a:solidFill>
                  <a:srgbClr val="E0E4E6"/>
                </a:solidFill>
                <a:latin typeface="Spline Sans Bold" pitchFamily="34" charset="0"/>
                <a:ea typeface="Spline Sans Bold" pitchFamily="34" charset="-122"/>
                <a:cs typeface="Spline Sans Bold" pitchFamily="34" charset="-120"/>
              </a:rPr>
              <a:t>2</a:t>
            </a:r>
            <a:endParaRPr lang="en-US" sz="2150" dirty="0"/>
          </a:p>
        </p:txBody>
      </p:sp>
      <p:sp>
        <p:nvSpPr>
          <p:cNvPr id="13" name="Text 10"/>
          <p:cNvSpPr/>
          <p:nvPr/>
        </p:nvSpPr>
        <p:spPr>
          <a:xfrm>
            <a:off x="2188131" y="3624739"/>
            <a:ext cx="2753201" cy="289441"/>
          </a:xfrm>
          <a:prstGeom prst="rect">
            <a:avLst/>
          </a:prstGeom>
          <a:noFill/>
          <a:ln/>
        </p:spPr>
        <p:txBody>
          <a:bodyPr wrap="none" lIns="0" tIns="0" rIns="0" bIns="0" rtlCol="0" anchor="t"/>
          <a:lstStyle/>
          <a:p>
            <a:pPr marL="0" indent="0" algn="l">
              <a:lnSpc>
                <a:spcPts val="2250"/>
              </a:lnSpc>
              <a:buNone/>
            </a:pPr>
            <a:r>
              <a:rPr lang="en-US" sz="1800" b="1" dirty="0">
                <a:solidFill>
                  <a:srgbClr val="E0E4E6"/>
                </a:solidFill>
                <a:latin typeface="Spline Sans Bold" pitchFamily="34" charset="0"/>
                <a:ea typeface="Spline Sans Bold" pitchFamily="34" charset="-122"/>
                <a:cs typeface="Spline Sans Bold" pitchFamily="34" charset="-120"/>
              </a:rPr>
              <a:t>Décomposition en étapes</a:t>
            </a:r>
            <a:endParaRPr lang="en-US" sz="1800" dirty="0"/>
          </a:p>
        </p:txBody>
      </p:sp>
      <p:sp>
        <p:nvSpPr>
          <p:cNvPr id="14" name="Text 11"/>
          <p:cNvSpPr/>
          <p:nvPr/>
        </p:nvSpPr>
        <p:spPr>
          <a:xfrm>
            <a:off x="2188131" y="4039195"/>
            <a:ext cx="6226493" cy="333494"/>
          </a:xfrm>
          <a:prstGeom prst="rect">
            <a:avLst/>
          </a:prstGeom>
          <a:noFill/>
          <a:ln/>
        </p:spPr>
        <p:txBody>
          <a:bodyPr wrap="none" lIns="0" tIns="0" rIns="0" bIns="0" rtlCol="0" anchor="t"/>
          <a:lstStyle/>
          <a:p>
            <a:pPr marL="0" indent="0" algn="l">
              <a:lnSpc>
                <a:spcPts val="2600"/>
              </a:lnSpc>
              <a:buNone/>
            </a:pPr>
            <a:r>
              <a:rPr lang="en-US" sz="1600" dirty="0">
                <a:solidFill>
                  <a:srgbClr val="E0E4E6"/>
                </a:solidFill>
                <a:latin typeface="Barlow" pitchFamily="34" charset="0"/>
                <a:ea typeface="Barlow" pitchFamily="34" charset="-122"/>
                <a:cs typeface="Barlow" pitchFamily="34" charset="-120"/>
              </a:rPr>
              <a:t>Diviser le problème en tâches plus petites et gérables.</a:t>
            </a:r>
            <a:endParaRPr lang="en-US" sz="1600" dirty="0"/>
          </a:p>
        </p:txBody>
      </p:sp>
      <p:sp>
        <p:nvSpPr>
          <p:cNvPr id="15" name="Shape 12"/>
          <p:cNvSpPr/>
          <p:nvPr/>
        </p:nvSpPr>
        <p:spPr>
          <a:xfrm>
            <a:off x="1253490" y="5246846"/>
            <a:ext cx="729377" cy="22860"/>
          </a:xfrm>
          <a:prstGeom prst="roundRect">
            <a:avLst>
              <a:gd name="adj" fmla="val 1367580"/>
            </a:avLst>
          </a:prstGeom>
          <a:solidFill>
            <a:srgbClr val="37A7E7"/>
          </a:solidFill>
          <a:ln/>
        </p:spPr>
      </p:sp>
      <p:sp>
        <p:nvSpPr>
          <p:cNvPr id="16" name="Shape 13"/>
          <p:cNvSpPr/>
          <p:nvPr/>
        </p:nvSpPr>
        <p:spPr>
          <a:xfrm>
            <a:off x="807482" y="5023842"/>
            <a:ext cx="468868" cy="468868"/>
          </a:xfrm>
          <a:prstGeom prst="roundRect">
            <a:avLst>
              <a:gd name="adj" fmla="val 66677"/>
            </a:avLst>
          </a:prstGeom>
          <a:solidFill>
            <a:srgbClr val="0A081B"/>
          </a:solidFill>
          <a:ln w="22860">
            <a:solidFill>
              <a:srgbClr val="37A7E7"/>
            </a:solidFill>
            <a:prstDash val="solid"/>
          </a:ln>
        </p:spPr>
      </p:sp>
      <p:sp>
        <p:nvSpPr>
          <p:cNvPr id="17" name="Text 14"/>
          <p:cNvSpPr/>
          <p:nvPr/>
        </p:nvSpPr>
        <p:spPr>
          <a:xfrm>
            <a:off x="960596" y="5119330"/>
            <a:ext cx="162639" cy="277892"/>
          </a:xfrm>
          <a:prstGeom prst="rect">
            <a:avLst/>
          </a:prstGeom>
          <a:noFill/>
          <a:ln/>
        </p:spPr>
        <p:txBody>
          <a:bodyPr wrap="none" lIns="0" tIns="0" rIns="0" bIns="0" rtlCol="0" anchor="t"/>
          <a:lstStyle/>
          <a:p>
            <a:pPr marL="0" indent="0" algn="ctr">
              <a:lnSpc>
                <a:spcPts val="2150"/>
              </a:lnSpc>
              <a:buNone/>
            </a:pPr>
            <a:r>
              <a:rPr lang="en-US" sz="2150" b="1" dirty="0">
                <a:solidFill>
                  <a:srgbClr val="E0E4E6"/>
                </a:solidFill>
                <a:latin typeface="Spline Sans Bold" pitchFamily="34" charset="0"/>
                <a:ea typeface="Spline Sans Bold" pitchFamily="34" charset="-122"/>
                <a:cs typeface="Spline Sans Bold" pitchFamily="34" charset="-120"/>
              </a:rPr>
              <a:t>3</a:t>
            </a:r>
            <a:endParaRPr lang="en-US" sz="2150" dirty="0"/>
          </a:p>
        </p:txBody>
      </p:sp>
      <p:sp>
        <p:nvSpPr>
          <p:cNvPr id="18" name="Text 15"/>
          <p:cNvSpPr/>
          <p:nvPr/>
        </p:nvSpPr>
        <p:spPr>
          <a:xfrm>
            <a:off x="2188131" y="4997768"/>
            <a:ext cx="2873216" cy="289441"/>
          </a:xfrm>
          <a:prstGeom prst="rect">
            <a:avLst/>
          </a:prstGeom>
          <a:noFill/>
          <a:ln/>
        </p:spPr>
        <p:txBody>
          <a:bodyPr wrap="none" lIns="0" tIns="0" rIns="0" bIns="0" rtlCol="0" anchor="t"/>
          <a:lstStyle/>
          <a:p>
            <a:pPr marL="0" indent="0" algn="l">
              <a:lnSpc>
                <a:spcPts val="2250"/>
              </a:lnSpc>
              <a:buNone/>
            </a:pPr>
            <a:r>
              <a:rPr lang="en-US" sz="1800" b="1" dirty="0">
                <a:solidFill>
                  <a:srgbClr val="E0E4E6"/>
                </a:solidFill>
                <a:latin typeface="Spline Sans Bold" pitchFamily="34" charset="0"/>
                <a:ea typeface="Spline Sans Bold" pitchFamily="34" charset="-122"/>
                <a:cs typeface="Spline Sans Bold" pitchFamily="34" charset="-120"/>
              </a:rPr>
              <a:t>Séquencement des étapes</a:t>
            </a:r>
            <a:endParaRPr lang="en-US" sz="1800" dirty="0"/>
          </a:p>
        </p:txBody>
      </p:sp>
      <p:sp>
        <p:nvSpPr>
          <p:cNvPr id="19" name="Text 16"/>
          <p:cNvSpPr/>
          <p:nvPr/>
        </p:nvSpPr>
        <p:spPr>
          <a:xfrm>
            <a:off x="2188131" y="5412224"/>
            <a:ext cx="6226493" cy="333494"/>
          </a:xfrm>
          <a:prstGeom prst="rect">
            <a:avLst/>
          </a:prstGeom>
          <a:noFill/>
          <a:ln/>
        </p:spPr>
        <p:txBody>
          <a:bodyPr wrap="none" lIns="0" tIns="0" rIns="0" bIns="0" rtlCol="0" anchor="t"/>
          <a:lstStyle/>
          <a:p>
            <a:pPr marL="0" indent="0" algn="l">
              <a:lnSpc>
                <a:spcPts val="2600"/>
              </a:lnSpc>
              <a:buNone/>
            </a:pPr>
            <a:r>
              <a:rPr lang="en-US" sz="1600" dirty="0">
                <a:solidFill>
                  <a:srgbClr val="E0E4E6"/>
                </a:solidFill>
                <a:latin typeface="Barlow" pitchFamily="34" charset="0"/>
                <a:ea typeface="Barlow" pitchFamily="34" charset="-122"/>
                <a:cs typeface="Barlow" pitchFamily="34" charset="-120"/>
              </a:rPr>
              <a:t>Déterminer l'ordre d'exécution des étapes de manière logique.</a:t>
            </a:r>
            <a:endParaRPr lang="en-US" sz="1600" dirty="0"/>
          </a:p>
        </p:txBody>
      </p:sp>
      <p:sp>
        <p:nvSpPr>
          <p:cNvPr id="20" name="Shape 17"/>
          <p:cNvSpPr/>
          <p:nvPr/>
        </p:nvSpPr>
        <p:spPr>
          <a:xfrm>
            <a:off x="1253490" y="6619875"/>
            <a:ext cx="729377" cy="22860"/>
          </a:xfrm>
          <a:prstGeom prst="roundRect">
            <a:avLst>
              <a:gd name="adj" fmla="val 1367580"/>
            </a:avLst>
          </a:prstGeom>
          <a:solidFill>
            <a:srgbClr val="091231"/>
          </a:solidFill>
          <a:ln/>
        </p:spPr>
      </p:sp>
      <p:sp>
        <p:nvSpPr>
          <p:cNvPr id="21" name="Shape 18"/>
          <p:cNvSpPr/>
          <p:nvPr/>
        </p:nvSpPr>
        <p:spPr>
          <a:xfrm>
            <a:off x="807482" y="6396871"/>
            <a:ext cx="468868" cy="468868"/>
          </a:xfrm>
          <a:prstGeom prst="roundRect">
            <a:avLst>
              <a:gd name="adj" fmla="val 66677"/>
            </a:avLst>
          </a:prstGeom>
          <a:solidFill>
            <a:srgbClr val="0A081B"/>
          </a:solidFill>
          <a:ln w="22860">
            <a:solidFill>
              <a:srgbClr val="091231"/>
            </a:solidFill>
            <a:prstDash val="solid"/>
          </a:ln>
        </p:spPr>
      </p:sp>
      <p:sp>
        <p:nvSpPr>
          <p:cNvPr id="22" name="Text 19"/>
          <p:cNvSpPr/>
          <p:nvPr/>
        </p:nvSpPr>
        <p:spPr>
          <a:xfrm>
            <a:off x="963335" y="6492359"/>
            <a:ext cx="157043" cy="277892"/>
          </a:xfrm>
          <a:prstGeom prst="rect">
            <a:avLst/>
          </a:prstGeom>
          <a:noFill/>
          <a:ln/>
        </p:spPr>
        <p:txBody>
          <a:bodyPr wrap="none" lIns="0" tIns="0" rIns="0" bIns="0" rtlCol="0" anchor="t"/>
          <a:lstStyle/>
          <a:p>
            <a:pPr marL="0" indent="0" algn="ctr">
              <a:lnSpc>
                <a:spcPts val="2150"/>
              </a:lnSpc>
              <a:buNone/>
            </a:pPr>
            <a:r>
              <a:rPr lang="en-US" sz="2150" b="1" dirty="0">
                <a:solidFill>
                  <a:srgbClr val="E0E4E6"/>
                </a:solidFill>
                <a:latin typeface="Spline Sans Bold" pitchFamily="34" charset="0"/>
                <a:ea typeface="Spline Sans Bold" pitchFamily="34" charset="-122"/>
                <a:cs typeface="Spline Sans Bold" pitchFamily="34" charset="-120"/>
              </a:rPr>
              <a:t>4</a:t>
            </a:r>
            <a:endParaRPr lang="en-US" sz="2150" dirty="0"/>
          </a:p>
        </p:txBody>
      </p:sp>
      <p:sp>
        <p:nvSpPr>
          <p:cNvPr id="23" name="Text 20"/>
          <p:cNvSpPr/>
          <p:nvPr/>
        </p:nvSpPr>
        <p:spPr>
          <a:xfrm>
            <a:off x="2188131" y="6370796"/>
            <a:ext cx="2788087" cy="289441"/>
          </a:xfrm>
          <a:prstGeom prst="rect">
            <a:avLst/>
          </a:prstGeom>
          <a:noFill/>
          <a:ln/>
        </p:spPr>
        <p:txBody>
          <a:bodyPr wrap="none" lIns="0" tIns="0" rIns="0" bIns="0" rtlCol="0" anchor="t"/>
          <a:lstStyle/>
          <a:p>
            <a:pPr marL="0" indent="0" algn="l">
              <a:lnSpc>
                <a:spcPts val="2250"/>
              </a:lnSpc>
              <a:buNone/>
            </a:pPr>
            <a:r>
              <a:rPr lang="en-US" sz="1800" b="1" dirty="0">
                <a:solidFill>
                  <a:srgbClr val="E0E4E6"/>
                </a:solidFill>
                <a:latin typeface="Spline Sans Bold" pitchFamily="34" charset="0"/>
                <a:ea typeface="Spline Sans Bold" pitchFamily="34" charset="-122"/>
                <a:cs typeface="Spline Sans Bold" pitchFamily="34" charset="-120"/>
              </a:rPr>
              <a:t>Validation et optimisation</a:t>
            </a:r>
            <a:endParaRPr lang="en-US" sz="1800" dirty="0"/>
          </a:p>
        </p:txBody>
      </p:sp>
      <p:sp>
        <p:nvSpPr>
          <p:cNvPr id="24" name="Text 21"/>
          <p:cNvSpPr/>
          <p:nvPr/>
        </p:nvSpPr>
        <p:spPr>
          <a:xfrm>
            <a:off x="2188131" y="6785253"/>
            <a:ext cx="6226493" cy="666988"/>
          </a:xfrm>
          <a:prstGeom prst="rect">
            <a:avLst/>
          </a:prstGeom>
          <a:noFill/>
          <a:ln/>
        </p:spPr>
        <p:txBody>
          <a:bodyPr wrap="square" lIns="0" tIns="0" rIns="0" bIns="0" rtlCol="0" anchor="t"/>
          <a:lstStyle/>
          <a:p>
            <a:pPr marL="0" indent="0" algn="l">
              <a:lnSpc>
                <a:spcPts val="2600"/>
              </a:lnSpc>
              <a:buNone/>
            </a:pPr>
            <a:r>
              <a:rPr lang="en-US" sz="1600" dirty="0">
                <a:solidFill>
                  <a:srgbClr val="E0E4E6"/>
                </a:solidFill>
                <a:latin typeface="Barlow" pitchFamily="34" charset="0"/>
                <a:ea typeface="Barlow" pitchFamily="34" charset="-122"/>
                <a:cs typeface="Barlow" pitchFamily="34" charset="-120"/>
              </a:rPr>
              <a:t>Vérifier que l'algorithme fonctionne correctement et l'améliorer si nécessaire.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1000"/>
                                        <p:tgtEl>
                                          <p:spTgt spid="9"/>
                                        </p:tgtEl>
                                      </p:cBhvr>
                                    </p:animEffect>
                                    <p:anim calcmode="lin" valueType="num">
                                      <p:cBhvr>
                                        <p:cTn id="48" dur="1000" fill="hold"/>
                                        <p:tgtEl>
                                          <p:spTgt spid="9"/>
                                        </p:tgtEl>
                                        <p:attrNameLst>
                                          <p:attrName>ppt_x</p:attrName>
                                        </p:attrNameLst>
                                      </p:cBhvr>
                                      <p:tavLst>
                                        <p:tav tm="0">
                                          <p:val>
                                            <p:strVal val="#ppt_x"/>
                                          </p:val>
                                        </p:tav>
                                        <p:tav tm="100000">
                                          <p:val>
                                            <p:strVal val="#ppt_x"/>
                                          </p:val>
                                        </p:tav>
                                      </p:tavLst>
                                    </p:anim>
                                    <p:anim calcmode="lin" valueType="num">
                                      <p:cBhvr>
                                        <p:cTn id="4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1000"/>
                                        <p:tgtEl>
                                          <p:spTgt spid="12"/>
                                        </p:tgtEl>
                                      </p:cBhvr>
                                    </p:animEffect>
                                    <p:anim calcmode="lin" valueType="num">
                                      <p:cBhvr>
                                        <p:cTn id="60" dur="1000" fill="hold"/>
                                        <p:tgtEl>
                                          <p:spTgt spid="12"/>
                                        </p:tgtEl>
                                        <p:attrNameLst>
                                          <p:attrName>ppt_x</p:attrName>
                                        </p:attrNameLst>
                                      </p:cBhvr>
                                      <p:tavLst>
                                        <p:tav tm="0">
                                          <p:val>
                                            <p:strVal val="#ppt_x"/>
                                          </p:val>
                                        </p:tav>
                                        <p:tav tm="100000">
                                          <p:val>
                                            <p:strVal val="#ppt_x"/>
                                          </p:val>
                                        </p:tav>
                                      </p:tavLst>
                                    </p:anim>
                                    <p:anim calcmode="lin" valueType="num">
                                      <p:cBhvr>
                                        <p:cTn id="61" dur="1000" fill="hold"/>
                                        <p:tgtEl>
                                          <p:spTgt spid="12"/>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1000"/>
                                        <p:tgtEl>
                                          <p:spTgt spid="10"/>
                                        </p:tgtEl>
                                      </p:cBhvr>
                                    </p:animEffect>
                                    <p:anim calcmode="lin" valueType="num">
                                      <p:cBhvr>
                                        <p:cTn id="65" dur="1000" fill="hold"/>
                                        <p:tgtEl>
                                          <p:spTgt spid="10"/>
                                        </p:tgtEl>
                                        <p:attrNameLst>
                                          <p:attrName>ppt_x</p:attrName>
                                        </p:attrNameLst>
                                      </p:cBhvr>
                                      <p:tavLst>
                                        <p:tav tm="0">
                                          <p:val>
                                            <p:strVal val="#ppt_x"/>
                                          </p:val>
                                        </p:tav>
                                        <p:tav tm="100000">
                                          <p:val>
                                            <p:strVal val="#ppt_x"/>
                                          </p:val>
                                        </p:tav>
                                      </p:tavLst>
                                    </p:anim>
                                    <p:anim calcmode="lin" valueType="num">
                                      <p:cBhvr>
                                        <p:cTn id="6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1000"/>
                                        <p:tgtEl>
                                          <p:spTgt spid="13"/>
                                        </p:tgtEl>
                                      </p:cBhvr>
                                    </p:animEffect>
                                    <p:anim calcmode="lin" valueType="num">
                                      <p:cBhvr>
                                        <p:cTn id="72" dur="1000" fill="hold"/>
                                        <p:tgtEl>
                                          <p:spTgt spid="13"/>
                                        </p:tgtEl>
                                        <p:attrNameLst>
                                          <p:attrName>ppt_x</p:attrName>
                                        </p:attrNameLst>
                                      </p:cBhvr>
                                      <p:tavLst>
                                        <p:tav tm="0">
                                          <p:val>
                                            <p:strVal val="#ppt_x"/>
                                          </p:val>
                                        </p:tav>
                                        <p:tav tm="100000">
                                          <p:val>
                                            <p:strVal val="#ppt_x"/>
                                          </p:val>
                                        </p:tav>
                                      </p:tavLst>
                                    </p:anim>
                                    <p:anim calcmode="lin" valueType="num">
                                      <p:cBhvr>
                                        <p:cTn id="7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1000"/>
                                        <p:tgtEl>
                                          <p:spTgt spid="14"/>
                                        </p:tgtEl>
                                      </p:cBhvr>
                                    </p:animEffect>
                                    <p:anim calcmode="lin" valueType="num">
                                      <p:cBhvr>
                                        <p:cTn id="79" dur="1000" fill="hold"/>
                                        <p:tgtEl>
                                          <p:spTgt spid="14"/>
                                        </p:tgtEl>
                                        <p:attrNameLst>
                                          <p:attrName>ppt_x</p:attrName>
                                        </p:attrNameLst>
                                      </p:cBhvr>
                                      <p:tavLst>
                                        <p:tav tm="0">
                                          <p:val>
                                            <p:strVal val="#ppt_x"/>
                                          </p:val>
                                        </p:tav>
                                        <p:tav tm="100000">
                                          <p:val>
                                            <p:strVal val="#ppt_x"/>
                                          </p:val>
                                        </p:tav>
                                      </p:tavLst>
                                    </p:anim>
                                    <p:anim calcmode="lin" valueType="num">
                                      <p:cBhvr>
                                        <p:cTn id="8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1000"/>
                                        <p:tgtEl>
                                          <p:spTgt spid="16"/>
                                        </p:tgtEl>
                                      </p:cBhvr>
                                    </p:animEffect>
                                    <p:anim calcmode="lin" valueType="num">
                                      <p:cBhvr>
                                        <p:cTn id="86" dur="1000" fill="hold"/>
                                        <p:tgtEl>
                                          <p:spTgt spid="16"/>
                                        </p:tgtEl>
                                        <p:attrNameLst>
                                          <p:attrName>ppt_x</p:attrName>
                                        </p:attrNameLst>
                                      </p:cBhvr>
                                      <p:tavLst>
                                        <p:tav tm="0">
                                          <p:val>
                                            <p:strVal val="#ppt_x"/>
                                          </p:val>
                                        </p:tav>
                                        <p:tav tm="100000">
                                          <p:val>
                                            <p:strVal val="#ppt_x"/>
                                          </p:val>
                                        </p:tav>
                                      </p:tavLst>
                                    </p:anim>
                                    <p:anim calcmode="lin" valueType="num">
                                      <p:cBhvr>
                                        <p:cTn id="87" dur="1000" fill="hold"/>
                                        <p:tgtEl>
                                          <p:spTgt spid="16"/>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1000"/>
                                        <p:tgtEl>
                                          <p:spTgt spid="17"/>
                                        </p:tgtEl>
                                      </p:cBhvr>
                                    </p:animEffect>
                                    <p:anim calcmode="lin" valueType="num">
                                      <p:cBhvr>
                                        <p:cTn id="91" dur="1000" fill="hold"/>
                                        <p:tgtEl>
                                          <p:spTgt spid="17"/>
                                        </p:tgtEl>
                                        <p:attrNameLst>
                                          <p:attrName>ppt_x</p:attrName>
                                        </p:attrNameLst>
                                      </p:cBhvr>
                                      <p:tavLst>
                                        <p:tav tm="0">
                                          <p:val>
                                            <p:strVal val="#ppt_x"/>
                                          </p:val>
                                        </p:tav>
                                        <p:tav tm="100000">
                                          <p:val>
                                            <p:strVal val="#ppt_x"/>
                                          </p:val>
                                        </p:tav>
                                      </p:tavLst>
                                    </p:anim>
                                    <p:anim calcmode="lin" valueType="num">
                                      <p:cBhvr>
                                        <p:cTn id="92" dur="1000" fill="hold"/>
                                        <p:tgtEl>
                                          <p:spTgt spid="17"/>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0"/>
                                        <p:tgtEl>
                                          <p:spTgt spid="15"/>
                                        </p:tgtEl>
                                      </p:cBhvr>
                                    </p:animEffect>
                                    <p:anim calcmode="lin" valueType="num">
                                      <p:cBhvr>
                                        <p:cTn id="96" dur="1000" fill="hold"/>
                                        <p:tgtEl>
                                          <p:spTgt spid="15"/>
                                        </p:tgtEl>
                                        <p:attrNameLst>
                                          <p:attrName>ppt_x</p:attrName>
                                        </p:attrNameLst>
                                      </p:cBhvr>
                                      <p:tavLst>
                                        <p:tav tm="0">
                                          <p:val>
                                            <p:strVal val="#ppt_x"/>
                                          </p:val>
                                        </p:tav>
                                        <p:tav tm="100000">
                                          <p:val>
                                            <p:strVal val="#ppt_x"/>
                                          </p:val>
                                        </p:tav>
                                      </p:tavLst>
                                    </p:anim>
                                    <p:anim calcmode="lin" valueType="num">
                                      <p:cBhvr>
                                        <p:cTn id="9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1000"/>
                                        <p:tgtEl>
                                          <p:spTgt spid="18"/>
                                        </p:tgtEl>
                                      </p:cBhvr>
                                    </p:animEffect>
                                    <p:anim calcmode="lin" valueType="num">
                                      <p:cBhvr>
                                        <p:cTn id="103" dur="1000" fill="hold"/>
                                        <p:tgtEl>
                                          <p:spTgt spid="18"/>
                                        </p:tgtEl>
                                        <p:attrNameLst>
                                          <p:attrName>ppt_x</p:attrName>
                                        </p:attrNameLst>
                                      </p:cBhvr>
                                      <p:tavLst>
                                        <p:tav tm="0">
                                          <p:val>
                                            <p:strVal val="#ppt_x"/>
                                          </p:val>
                                        </p:tav>
                                        <p:tav tm="100000">
                                          <p:val>
                                            <p:strVal val="#ppt_x"/>
                                          </p:val>
                                        </p:tav>
                                      </p:tavLst>
                                    </p:anim>
                                    <p:anim calcmode="lin" valueType="num">
                                      <p:cBhvr>
                                        <p:cTn id="10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fade">
                                      <p:cBhvr>
                                        <p:cTn id="109" dur="1000"/>
                                        <p:tgtEl>
                                          <p:spTgt spid="19"/>
                                        </p:tgtEl>
                                      </p:cBhvr>
                                    </p:animEffect>
                                    <p:anim calcmode="lin" valueType="num">
                                      <p:cBhvr>
                                        <p:cTn id="110" dur="1000" fill="hold"/>
                                        <p:tgtEl>
                                          <p:spTgt spid="19"/>
                                        </p:tgtEl>
                                        <p:attrNameLst>
                                          <p:attrName>ppt_x</p:attrName>
                                        </p:attrNameLst>
                                      </p:cBhvr>
                                      <p:tavLst>
                                        <p:tav tm="0">
                                          <p:val>
                                            <p:strVal val="#ppt_x"/>
                                          </p:val>
                                        </p:tav>
                                        <p:tav tm="100000">
                                          <p:val>
                                            <p:strVal val="#ppt_x"/>
                                          </p:val>
                                        </p:tav>
                                      </p:tavLst>
                                    </p:anim>
                                    <p:anim calcmode="lin" valueType="num">
                                      <p:cBhvr>
                                        <p:cTn id="11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21"/>
                                        </p:tgtEl>
                                        <p:attrNameLst>
                                          <p:attrName>style.visibility</p:attrName>
                                        </p:attrNameLst>
                                      </p:cBhvr>
                                      <p:to>
                                        <p:strVal val="visible"/>
                                      </p:to>
                                    </p:set>
                                    <p:animEffect transition="in" filter="fade">
                                      <p:cBhvr>
                                        <p:cTn id="116" dur="1000"/>
                                        <p:tgtEl>
                                          <p:spTgt spid="21"/>
                                        </p:tgtEl>
                                      </p:cBhvr>
                                    </p:animEffect>
                                    <p:anim calcmode="lin" valueType="num">
                                      <p:cBhvr>
                                        <p:cTn id="117" dur="1000" fill="hold"/>
                                        <p:tgtEl>
                                          <p:spTgt spid="21"/>
                                        </p:tgtEl>
                                        <p:attrNameLst>
                                          <p:attrName>ppt_x</p:attrName>
                                        </p:attrNameLst>
                                      </p:cBhvr>
                                      <p:tavLst>
                                        <p:tav tm="0">
                                          <p:val>
                                            <p:strVal val="#ppt_x"/>
                                          </p:val>
                                        </p:tav>
                                        <p:tav tm="100000">
                                          <p:val>
                                            <p:strVal val="#ppt_x"/>
                                          </p:val>
                                        </p:tav>
                                      </p:tavLst>
                                    </p:anim>
                                    <p:anim calcmode="lin" valueType="num">
                                      <p:cBhvr>
                                        <p:cTn id="118" dur="1000" fill="hold"/>
                                        <p:tgtEl>
                                          <p:spTgt spid="21"/>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2"/>
                                        </p:tgtEl>
                                        <p:attrNameLst>
                                          <p:attrName>style.visibility</p:attrName>
                                        </p:attrNameLst>
                                      </p:cBhvr>
                                      <p:to>
                                        <p:strVal val="visible"/>
                                      </p:to>
                                    </p:set>
                                    <p:animEffect transition="in" filter="fade">
                                      <p:cBhvr>
                                        <p:cTn id="121" dur="1000"/>
                                        <p:tgtEl>
                                          <p:spTgt spid="22"/>
                                        </p:tgtEl>
                                      </p:cBhvr>
                                    </p:animEffect>
                                    <p:anim calcmode="lin" valueType="num">
                                      <p:cBhvr>
                                        <p:cTn id="122" dur="1000" fill="hold"/>
                                        <p:tgtEl>
                                          <p:spTgt spid="22"/>
                                        </p:tgtEl>
                                        <p:attrNameLst>
                                          <p:attrName>ppt_x</p:attrName>
                                        </p:attrNameLst>
                                      </p:cBhvr>
                                      <p:tavLst>
                                        <p:tav tm="0">
                                          <p:val>
                                            <p:strVal val="#ppt_x"/>
                                          </p:val>
                                        </p:tav>
                                        <p:tav tm="100000">
                                          <p:val>
                                            <p:strVal val="#ppt_x"/>
                                          </p:val>
                                        </p:tav>
                                      </p:tavLst>
                                    </p:anim>
                                    <p:anim calcmode="lin" valueType="num">
                                      <p:cBhvr>
                                        <p:cTn id="123" dur="1000" fill="hold"/>
                                        <p:tgtEl>
                                          <p:spTgt spid="22"/>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0"/>
                                  </p:stCondLst>
                                  <p:childTnLst>
                                    <p:set>
                                      <p:cBhvr>
                                        <p:cTn id="125" dur="1" fill="hold">
                                          <p:stCondLst>
                                            <p:cond delay="0"/>
                                          </p:stCondLst>
                                        </p:cTn>
                                        <p:tgtEl>
                                          <p:spTgt spid="20"/>
                                        </p:tgtEl>
                                        <p:attrNameLst>
                                          <p:attrName>style.visibility</p:attrName>
                                        </p:attrNameLst>
                                      </p:cBhvr>
                                      <p:to>
                                        <p:strVal val="visible"/>
                                      </p:to>
                                    </p:set>
                                    <p:animEffect transition="in" filter="fade">
                                      <p:cBhvr>
                                        <p:cTn id="126" dur="1000"/>
                                        <p:tgtEl>
                                          <p:spTgt spid="20"/>
                                        </p:tgtEl>
                                      </p:cBhvr>
                                    </p:animEffect>
                                    <p:anim calcmode="lin" valueType="num">
                                      <p:cBhvr>
                                        <p:cTn id="127" dur="1000" fill="hold"/>
                                        <p:tgtEl>
                                          <p:spTgt spid="20"/>
                                        </p:tgtEl>
                                        <p:attrNameLst>
                                          <p:attrName>ppt_x</p:attrName>
                                        </p:attrNameLst>
                                      </p:cBhvr>
                                      <p:tavLst>
                                        <p:tav tm="0">
                                          <p:val>
                                            <p:strVal val="#ppt_x"/>
                                          </p:val>
                                        </p:tav>
                                        <p:tav tm="100000">
                                          <p:val>
                                            <p:strVal val="#ppt_x"/>
                                          </p:val>
                                        </p:tav>
                                      </p:tavLst>
                                    </p:anim>
                                    <p:anim calcmode="lin" valueType="num">
                                      <p:cBhvr>
                                        <p:cTn id="12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23"/>
                                        </p:tgtEl>
                                        <p:attrNameLst>
                                          <p:attrName>style.visibility</p:attrName>
                                        </p:attrNameLst>
                                      </p:cBhvr>
                                      <p:to>
                                        <p:strVal val="visible"/>
                                      </p:to>
                                    </p:set>
                                    <p:animEffect transition="in" filter="fade">
                                      <p:cBhvr>
                                        <p:cTn id="133" dur="1000"/>
                                        <p:tgtEl>
                                          <p:spTgt spid="23"/>
                                        </p:tgtEl>
                                      </p:cBhvr>
                                    </p:animEffect>
                                    <p:anim calcmode="lin" valueType="num">
                                      <p:cBhvr>
                                        <p:cTn id="134" dur="1000" fill="hold"/>
                                        <p:tgtEl>
                                          <p:spTgt spid="23"/>
                                        </p:tgtEl>
                                        <p:attrNameLst>
                                          <p:attrName>ppt_x</p:attrName>
                                        </p:attrNameLst>
                                      </p:cBhvr>
                                      <p:tavLst>
                                        <p:tav tm="0">
                                          <p:val>
                                            <p:strVal val="#ppt_x"/>
                                          </p:val>
                                        </p:tav>
                                        <p:tav tm="100000">
                                          <p:val>
                                            <p:strVal val="#ppt_x"/>
                                          </p:val>
                                        </p:tav>
                                      </p:tavLst>
                                    </p:anim>
                                    <p:anim calcmode="lin" valueType="num">
                                      <p:cBhvr>
                                        <p:cTn id="13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24"/>
                                        </p:tgtEl>
                                        <p:attrNameLst>
                                          <p:attrName>style.visibility</p:attrName>
                                        </p:attrNameLst>
                                      </p:cBhvr>
                                      <p:to>
                                        <p:strVal val="visible"/>
                                      </p:to>
                                    </p:set>
                                    <p:animEffect transition="in" filter="fade">
                                      <p:cBhvr>
                                        <p:cTn id="140" dur="1000"/>
                                        <p:tgtEl>
                                          <p:spTgt spid="24"/>
                                        </p:tgtEl>
                                      </p:cBhvr>
                                    </p:animEffect>
                                    <p:anim calcmode="lin" valueType="num">
                                      <p:cBhvr>
                                        <p:cTn id="141" dur="1000" fill="hold"/>
                                        <p:tgtEl>
                                          <p:spTgt spid="24"/>
                                        </p:tgtEl>
                                        <p:attrNameLst>
                                          <p:attrName>ppt_x</p:attrName>
                                        </p:attrNameLst>
                                      </p:cBhvr>
                                      <p:tavLst>
                                        <p:tav tm="0">
                                          <p:val>
                                            <p:strVal val="#ppt_x"/>
                                          </p:val>
                                        </p:tav>
                                        <p:tav tm="100000">
                                          <p:val>
                                            <p:strVal val="#ppt_x"/>
                                          </p:val>
                                        </p:tav>
                                      </p:tavLst>
                                    </p:anim>
                                    <p:anim calcmode="lin" valueType="num">
                                      <p:cBhvr>
                                        <p:cTn id="14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2" grpId="0" animBg="1"/>
      <p:bldP spid="13" grpId="0" animBg="1"/>
      <p:bldP spid="14" grpId="0" animBg="1"/>
      <p:bldP spid="17" grpId="0" animBg="1"/>
      <p:bldP spid="18" grpId="0" animBg="1"/>
      <p:bldP spid="19" grpId="0" animBg="1"/>
      <p:bldP spid="22"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6100"/>
          </a:xfrm>
          <a:prstGeom prst="rect">
            <a:avLst/>
          </a:prstGeom>
        </p:spPr>
      </p:pic>
      <p:sp>
        <p:nvSpPr>
          <p:cNvPr id="3" name="Text 0"/>
          <p:cNvSpPr/>
          <p:nvPr/>
        </p:nvSpPr>
        <p:spPr>
          <a:xfrm>
            <a:off x="864037" y="3816906"/>
            <a:ext cx="7369135"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Importance des Algorithmes</a:t>
            </a:r>
            <a:endParaRPr lang="en-US" sz="4300" dirty="0"/>
          </a:p>
        </p:txBody>
      </p:sp>
      <p:sp>
        <p:nvSpPr>
          <p:cNvPr id="4" name="Shape 1"/>
          <p:cNvSpPr/>
          <p:nvPr/>
        </p:nvSpPr>
        <p:spPr>
          <a:xfrm>
            <a:off x="864037" y="4872990"/>
            <a:ext cx="4136231" cy="2625804"/>
          </a:xfrm>
          <a:prstGeom prst="roundRect">
            <a:avLst>
              <a:gd name="adj" fmla="val 14104"/>
            </a:avLst>
          </a:prstGeom>
          <a:solidFill>
            <a:srgbClr val="0A081B"/>
          </a:solidFill>
          <a:ln w="30480">
            <a:solidFill>
              <a:srgbClr val="16FFBB"/>
            </a:solidFill>
            <a:prstDash val="solid"/>
          </a:ln>
        </p:spPr>
      </p:sp>
      <p:sp>
        <p:nvSpPr>
          <p:cNvPr id="5" name="Text 2"/>
          <p:cNvSpPr/>
          <p:nvPr/>
        </p:nvSpPr>
        <p:spPr>
          <a:xfrm>
            <a:off x="1141333" y="5150287"/>
            <a:ext cx="3193256"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Résolution de problèmes</a:t>
            </a:r>
            <a:endParaRPr lang="en-US" sz="2150" dirty="0"/>
          </a:p>
        </p:txBody>
      </p:sp>
      <p:sp>
        <p:nvSpPr>
          <p:cNvPr id="6" name="Text 3"/>
          <p:cNvSpPr/>
          <p:nvPr/>
        </p:nvSpPr>
        <p:spPr>
          <a:xfrm>
            <a:off x="1141333" y="5641300"/>
            <a:ext cx="3581638" cy="158019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Offrent des solutions systématiques pour des problèmes complexes, de la logistique à la médecine.</a:t>
            </a:r>
            <a:endParaRPr lang="en-US" sz="1900" dirty="0"/>
          </a:p>
        </p:txBody>
      </p:sp>
      <p:sp>
        <p:nvSpPr>
          <p:cNvPr id="7" name="Shape 4"/>
          <p:cNvSpPr/>
          <p:nvPr/>
        </p:nvSpPr>
        <p:spPr>
          <a:xfrm>
            <a:off x="5247084" y="4872990"/>
            <a:ext cx="4136231" cy="2625804"/>
          </a:xfrm>
          <a:prstGeom prst="roundRect">
            <a:avLst>
              <a:gd name="adj" fmla="val 14104"/>
            </a:avLst>
          </a:prstGeom>
          <a:solidFill>
            <a:srgbClr val="0A081B"/>
          </a:solidFill>
          <a:ln w="30480">
            <a:solidFill>
              <a:srgbClr val="29DDDA"/>
            </a:solidFill>
            <a:prstDash val="solid"/>
          </a:ln>
        </p:spPr>
      </p:sp>
      <p:sp>
        <p:nvSpPr>
          <p:cNvPr id="8" name="Text 5"/>
          <p:cNvSpPr/>
          <p:nvPr/>
        </p:nvSpPr>
        <p:spPr>
          <a:xfrm>
            <a:off x="5524381" y="5150287"/>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Automatisation</a:t>
            </a:r>
            <a:endParaRPr lang="en-US" sz="2150" dirty="0"/>
          </a:p>
        </p:txBody>
      </p:sp>
      <p:sp>
        <p:nvSpPr>
          <p:cNvPr id="9" name="Text 6"/>
          <p:cNvSpPr/>
          <p:nvPr/>
        </p:nvSpPr>
        <p:spPr>
          <a:xfrm>
            <a:off x="5524381" y="5641300"/>
            <a:ext cx="3581638"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Simplifient les tâches répétitives et automatisent des processus, augmentant l'efficacité.</a:t>
            </a:r>
            <a:endParaRPr lang="en-US" sz="1900" dirty="0"/>
          </a:p>
        </p:txBody>
      </p:sp>
      <p:sp>
        <p:nvSpPr>
          <p:cNvPr id="10" name="Shape 7"/>
          <p:cNvSpPr/>
          <p:nvPr/>
        </p:nvSpPr>
        <p:spPr>
          <a:xfrm>
            <a:off x="9630132" y="4872990"/>
            <a:ext cx="4136231" cy="2625804"/>
          </a:xfrm>
          <a:prstGeom prst="roundRect">
            <a:avLst>
              <a:gd name="adj" fmla="val 14104"/>
            </a:avLst>
          </a:prstGeom>
          <a:solidFill>
            <a:srgbClr val="0A081B"/>
          </a:solidFill>
          <a:ln w="30480">
            <a:solidFill>
              <a:srgbClr val="37A7E7"/>
            </a:solidFill>
            <a:prstDash val="solid"/>
          </a:ln>
        </p:spPr>
      </p:sp>
      <p:sp>
        <p:nvSpPr>
          <p:cNvPr id="11" name="Text 8"/>
          <p:cNvSpPr/>
          <p:nvPr/>
        </p:nvSpPr>
        <p:spPr>
          <a:xfrm>
            <a:off x="9907429" y="5150287"/>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Innovation</a:t>
            </a:r>
            <a:endParaRPr lang="en-US" sz="2150" dirty="0"/>
          </a:p>
        </p:txBody>
      </p:sp>
      <p:sp>
        <p:nvSpPr>
          <p:cNvPr id="12" name="Text 9"/>
          <p:cNvSpPr/>
          <p:nvPr/>
        </p:nvSpPr>
        <p:spPr>
          <a:xfrm>
            <a:off x="9907429" y="5641300"/>
            <a:ext cx="3581638"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Permettent la création de nouvelles technologies et applications révolutionnaires.</a:t>
            </a:r>
            <a:endParaRPr lang="en-US" sz="1900" dirty="0"/>
          </a:p>
        </p:txBody>
      </p:sp>
      <p:sp>
        <p:nvSpPr>
          <p:cNvPr id="13" name="TextBox 12"/>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heel(1)">
                                      <p:cBhvr>
                                        <p:cTn id="22" dur="2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heel(1)">
                                      <p:cBhvr>
                                        <p:cTn id="39" dur="20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randombar(horizontal)">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ppt_w</p:attrName>
                                        </p:attrNameLst>
                                      </p:cBhvr>
                                      <p:tavLst>
                                        <p:tav tm="0">
                                          <p:val>
                                            <p:fltVal val="0"/>
                                          </p:val>
                                        </p:tav>
                                        <p:tav tm="100000">
                                          <p:val>
                                            <p:strVal val="#ppt_w"/>
                                          </p:val>
                                        </p:tav>
                                      </p:tavLst>
                                    </p:anim>
                                    <p:anim calcmode="lin" valueType="num">
                                      <p:cBhvr>
                                        <p:cTn id="50" dur="500" fill="hold"/>
                                        <p:tgtEl>
                                          <p:spTgt spid="9"/>
                                        </p:tgtEl>
                                        <p:attrNameLst>
                                          <p:attrName>ppt_h</p:attrName>
                                        </p:attrNameLst>
                                      </p:cBhvr>
                                      <p:tavLst>
                                        <p:tav tm="0">
                                          <p:val>
                                            <p:fltVal val="0"/>
                                          </p:val>
                                        </p:tav>
                                        <p:tav tm="100000">
                                          <p:val>
                                            <p:strVal val="#ppt_h"/>
                                          </p:val>
                                        </p:tav>
                                      </p:tavLst>
                                    </p:anim>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heel(1)">
                                      <p:cBhvr>
                                        <p:cTn id="56" dur="20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randombar(horizontal)">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 calcmode="lin" valueType="num">
                                      <p:cBhvr>
                                        <p:cTn id="66" dur="500" fill="hold"/>
                                        <p:tgtEl>
                                          <p:spTgt spid="12"/>
                                        </p:tgtEl>
                                        <p:attrNameLst>
                                          <p:attrName>ppt_w</p:attrName>
                                        </p:attrNameLst>
                                      </p:cBhvr>
                                      <p:tavLst>
                                        <p:tav tm="0">
                                          <p:val>
                                            <p:fltVal val="0"/>
                                          </p:val>
                                        </p:tav>
                                        <p:tav tm="100000">
                                          <p:val>
                                            <p:strVal val="#ppt_w"/>
                                          </p:val>
                                        </p:tav>
                                      </p:tavLst>
                                    </p:anim>
                                    <p:anim calcmode="lin" valueType="num">
                                      <p:cBhvr>
                                        <p:cTn id="67" dur="500" fill="hold"/>
                                        <p:tgtEl>
                                          <p:spTgt spid="12"/>
                                        </p:tgtEl>
                                        <p:attrNameLst>
                                          <p:attrName>ppt_h</p:attrName>
                                        </p:attrNameLst>
                                      </p:cBhvr>
                                      <p:tavLst>
                                        <p:tav tm="0">
                                          <p:val>
                                            <p:fltVal val="0"/>
                                          </p:val>
                                        </p:tav>
                                        <p:tav tm="100000">
                                          <p:val>
                                            <p:strVal val="#ppt_h"/>
                                          </p:val>
                                        </p:tav>
                                      </p:tavLst>
                                    </p:anim>
                                    <p:animEffect transition="in" filter="fade">
                                      <p:cBhvr>
                                        <p:cTn id="6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6" name="TextBox 15"/>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114425"/>
            <a:ext cx="5486400"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Types d'Algorithmes</a:t>
            </a:r>
            <a:endParaRPr lang="en-US" sz="4300" dirty="0"/>
          </a:p>
        </p:txBody>
      </p:sp>
      <p:sp>
        <p:nvSpPr>
          <p:cNvPr id="4" name="Shape 1"/>
          <p:cNvSpPr/>
          <p:nvPr/>
        </p:nvSpPr>
        <p:spPr>
          <a:xfrm>
            <a:off x="864037" y="2448163"/>
            <a:ext cx="431959" cy="431959"/>
          </a:xfrm>
          <a:prstGeom prst="roundRect">
            <a:avLst>
              <a:gd name="adj" fmla="val 85733"/>
            </a:avLst>
          </a:prstGeom>
          <a:solidFill>
            <a:srgbClr val="0A081B"/>
          </a:solidFill>
          <a:ln w="30480">
            <a:solidFill>
              <a:srgbClr val="16FFBB"/>
            </a:solidFill>
            <a:prstDash val="solid"/>
          </a:ln>
        </p:spPr>
      </p:sp>
      <p:sp>
        <p:nvSpPr>
          <p:cNvPr id="5" name="Text 2"/>
          <p:cNvSpPr/>
          <p:nvPr/>
        </p:nvSpPr>
        <p:spPr>
          <a:xfrm>
            <a:off x="1542812" y="2448163"/>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Tri</a:t>
            </a:r>
            <a:endParaRPr lang="en-US" sz="2150" dirty="0"/>
          </a:p>
        </p:txBody>
      </p:sp>
      <p:sp>
        <p:nvSpPr>
          <p:cNvPr id="6" name="Text 3"/>
          <p:cNvSpPr/>
          <p:nvPr/>
        </p:nvSpPr>
        <p:spPr>
          <a:xfrm>
            <a:off x="1542812" y="2939177"/>
            <a:ext cx="2905839"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Organiser des données dans un ordre spécifique (croissant, décroissant).</a:t>
            </a:r>
            <a:endParaRPr lang="en-US" sz="1900" dirty="0"/>
          </a:p>
        </p:txBody>
      </p:sp>
      <p:sp>
        <p:nvSpPr>
          <p:cNvPr id="7" name="Shape 4"/>
          <p:cNvSpPr/>
          <p:nvPr/>
        </p:nvSpPr>
        <p:spPr>
          <a:xfrm>
            <a:off x="4695468" y="2448163"/>
            <a:ext cx="431959" cy="431959"/>
          </a:xfrm>
          <a:prstGeom prst="roundRect">
            <a:avLst>
              <a:gd name="adj" fmla="val 85733"/>
            </a:avLst>
          </a:prstGeom>
          <a:solidFill>
            <a:srgbClr val="0A081B"/>
          </a:solidFill>
          <a:ln w="30480">
            <a:solidFill>
              <a:srgbClr val="29DDDA"/>
            </a:solidFill>
            <a:prstDash val="solid"/>
          </a:ln>
        </p:spPr>
      </p:sp>
      <p:sp>
        <p:nvSpPr>
          <p:cNvPr id="8" name="Text 5"/>
          <p:cNvSpPr/>
          <p:nvPr/>
        </p:nvSpPr>
        <p:spPr>
          <a:xfrm>
            <a:off x="5374243" y="2448163"/>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Recherche</a:t>
            </a:r>
            <a:endParaRPr lang="en-US" sz="2150" dirty="0"/>
          </a:p>
        </p:txBody>
      </p:sp>
      <p:sp>
        <p:nvSpPr>
          <p:cNvPr id="9" name="Text 6"/>
          <p:cNvSpPr/>
          <p:nvPr/>
        </p:nvSpPr>
        <p:spPr>
          <a:xfrm>
            <a:off x="5374243" y="2939177"/>
            <a:ext cx="2905839"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Trouver un élément particulier dans un ensemble de données.</a:t>
            </a:r>
            <a:endParaRPr lang="en-US" sz="1900" dirty="0"/>
          </a:p>
        </p:txBody>
      </p:sp>
      <p:sp>
        <p:nvSpPr>
          <p:cNvPr id="10" name="Shape 7"/>
          <p:cNvSpPr/>
          <p:nvPr/>
        </p:nvSpPr>
        <p:spPr>
          <a:xfrm>
            <a:off x="864037" y="4648795"/>
            <a:ext cx="431959" cy="431959"/>
          </a:xfrm>
          <a:prstGeom prst="roundRect">
            <a:avLst>
              <a:gd name="adj" fmla="val 85733"/>
            </a:avLst>
          </a:prstGeom>
          <a:solidFill>
            <a:srgbClr val="0A081B"/>
          </a:solidFill>
          <a:ln w="30480">
            <a:solidFill>
              <a:srgbClr val="37A7E7"/>
            </a:solidFill>
            <a:prstDash val="solid"/>
          </a:ln>
        </p:spPr>
      </p:sp>
      <p:sp>
        <p:nvSpPr>
          <p:cNvPr id="11" name="Text 8"/>
          <p:cNvSpPr/>
          <p:nvPr/>
        </p:nvSpPr>
        <p:spPr>
          <a:xfrm>
            <a:off x="1542812" y="4648795"/>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Réseaux</a:t>
            </a:r>
            <a:endParaRPr lang="en-US" sz="2150" dirty="0"/>
          </a:p>
        </p:txBody>
      </p:sp>
      <p:sp>
        <p:nvSpPr>
          <p:cNvPr id="12" name="Text 9"/>
          <p:cNvSpPr/>
          <p:nvPr/>
        </p:nvSpPr>
        <p:spPr>
          <a:xfrm>
            <a:off x="1542812" y="5139809"/>
            <a:ext cx="2905839"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Gérer les connexions entre les nœuds, comme dans les réseaux sociaux.</a:t>
            </a:r>
            <a:endParaRPr lang="en-US" sz="1900" dirty="0"/>
          </a:p>
        </p:txBody>
      </p:sp>
      <p:sp>
        <p:nvSpPr>
          <p:cNvPr id="13" name="Shape 10"/>
          <p:cNvSpPr/>
          <p:nvPr/>
        </p:nvSpPr>
        <p:spPr>
          <a:xfrm>
            <a:off x="4695468" y="4648795"/>
            <a:ext cx="431959" cy="431959"/>
          </a:xfrm>
          <a:prstGeom prst="roundRect">
            <a:avLst>
              <a:gd name="adj" fmla="val 85733"/>
            </a:avLst>
          </a:prstGeom>
          <a:solidFill>
            <a:srgbClr val="0A081B"/>
          </a:solidFill>
          <a:ln w="30480">
            <a:solidFill>
              <a:srgbClr val="091231"/>
            </a:solidFill>
            <a:prstDash val="solid"/>
          </a:ln>
        </p:spPr>
      </p:sp>
      <p:sp>
        <p:nvSpPr>
          <p:cNvPr id="14" name="Text 11"/>
          <p:cNvSpPr/>
          <p:nvPr/>
        </p:nvSpPr>
        <p:spPr>
          <a:xfrm>
            <a:off x="5374243" y="4648795"/>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Machine Learning</a:t>
            </a:r>
            <a:endParaRPr lang="en-US" sz="2150" dirty="0"/>
          </a:p>
        </p:txBody>
      </p:sp>
      <p:sp>
        <p:nvSpPr>
          <p:cNvPr id="15" name="Text 12"/>
          <p:cNvSpPr/>
          <p:nvPr/>
        </p:nvSpPr>
        <p:spPr>
          <a:xfrm>
            <a:off x="5374243" y="5139809"/>
            <a:ext cx="2905839" cy="1975247"/>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Permettre aux ordinateurs d'apprendre à partir des données, sans être explicitement programmés.</a:t>
            </a:r>
            <a:endParaRPr lang="en-US"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80">
                                          <p:stCondLst>
                                            <p:cond delay="0"/>
                                          </p:stCondLst>
                                        </p:cTn>
                                        <p:tgtEl>
                                          <p:spTgt spid="2"/>
                                        </p:tgtEl>
                                      </p:cBhvr>
                                    </p:animEffect>
                                    <p:anim calcmode="lin" valueType="num">
                                      <p:cBhvr>
                                        <p:cTn id="15"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0" dur="26">
                                          <p:stCondLst>
                                            <p:cond delay="650"/>
                                          </p:stCondLst>
                                        </p:cTn>
                                        <p:tgtEl>
                                          <p:spTgt spid="2"/>
                                        </p:tgtEl>
                                      </p:cBhvr>
                                      <p:to x="100000" y="60000"/>
                                    </p:animScale>
                                    <p:animScale>
                                      <p:cBhvr>
                                        <p:cTn id="21" dur="166" decel="50000">
                                          <p:stCondLst>
                                            <p:cond delay="676"/>
                                          </p:stCondLst>
                                        </p:cTn>
                                        <p:tgtEl>
                                          <p:spTgt spid="2"/>
                                        </p:tgtEl>
                                      </p:cBhvr>
                                      <p:to x="100000" y="100000"/>
                                    </p:animScale>
                                    <p:animScale>
                                      <p:cBhvr>
                                        <p:cTn id="22" dur="26">
                                          <p:stCondLst>
                                            <p:cond delay="1312"/>
                                          </p:stCondLst>
                                        </p:cTn>
                                        <p:tgtEl>
                                          <p:spTgt spid="2"/>
                                        </p:tgtEl>
                                      </p:cBhvr>
                                      <p:to x="100000" y="80000"/>
                                    </p:animScale>
                                    <p:animScale>
                                      <p:cBhvr>
                                        <p:cTn id="23" dur="166" decel="50000">
                                          <p:stCondLst>
                                            <p:cond delay="1338"/>
                                          </p:stCondLst>
                                        </p:cTn>
                                        <p:tgtEl>
                                          <p:spTgt spid="2"/>
                                        </p:tgtEl>
                                      </p:cBhvr>
                                      <p:to x="100000" y="100000"/>
                                    </p:animScale>
                                    <p:animScale>
                                      <p:cBhvr>
                                        <p:cTn id="24" dur="26">
                                          <p:stCondLst>
                                            <p:cond delay="1642"/>
                                          </p:stCondLst>
                                        </p:cTn>
                                        <p:tgtEl>
                                          <p:spTgt spid="2"/>
                                        </p:tgtEl>
                                      </p:cBhvr>
                                      <p:to x="100000" y="90000"/>
                                    </p:animScale>
                                    <p:animScale>
                                      <p:cBhvr>
                                        <p:cTn id="25" dur="166" decel="50000">
                                          <p:stCondLst>
                                            <p:cond delay="1668"/>
                                          </p:stCondLst>
                                        </p:cTn>
                                        <p:tgtEl>
                                          <p:spTgt spid="2"/>
                                        </p:tgtEl>
                                      </p:cBhvr>
                                      <p:to x="100000" y="100000"/>
                                    </p:animScale>
                                    <p:animScale>
                                      <p:cBhvr>
                                        <p:cTn id="26" dur="26">
                                          <p:stCondLst>
                                            <p:cond delay="1808"/>
                                          </p:stCondLst>
                                        </p:cTn>
                                        <p:tgtEl>
                                          <p:spTgt spid="2"/>
                                        </p:tgtEl>
                                      </p:cBhvr>
                                      <p:to x="100000" y="95000"/>
                                    </p:animScale>
                                    <p:animScale>
                                      <p:cBhvr>
                                        <p:cTn id="27" dur="166" decel="50000">
                                          <p:stCondLst>
                                            <p:cond delay="1834"/>
                                          </p:stCondLst>
                                        </p:cTn>
                                        <p:tgtEl>
                                          <p:spTgt spid="2"/>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randombar(horizont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down)">
                                      <p:cBhvr>
                                        <p:cTn id="49" dur="5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randombar(horizontal)">
                                      <p:cBhvr>
                                        <p:cTn id="54" dur="5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1000"/>
                                        <p:tgtEl>
                                          <p:spTgt spid="9"/>
                                        </p:tgtEl>
                                      </p:cBhvr>
                                    </p:animEffect>
                                    <p:anim calcmode="lin" valueType="num">
                                      <p:cBhvr>
                                        <p:cTn id="60" dur="1000" fill="hold"/>
                                        <p:tgtEl>
                                          <p:spTgt spid="9"/>
                                        </p:tgtEl>
                                        <p:attrNameLst>
                                          <p:attrName>ppt_x</p:attrName>
                                        </p:attrNameLst>
                                      </p:cBhvr>
                                      <p:tavLst>
                                        <p:tav tm="0">
                                          <p:val>
                                            <p:strVal val="#ppt_x"/>
                                          </p:val>
                                        </p:tav>
                                        <p:tav tm="100000">
                                          <p:val>
                                            <p:strVal val="#ppt_x"/>
                                          </p:val>
                                        </p:tav>
                                      </p:tavLst>
                                    </p:anim>
                                    <p:anim calcmode="lin" valueType="num">
                                      <p:cBhvr>
                                        <p:cTn id="6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ipe(down)">
                                      <p:cBhvr>
                                        <p:cTn id="66" dur="5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randombar(horizontal)">
                                      <p:cBhvr>
                                        <p:cTn id="71" dur="500"/>
                                        <p:tgtEl>
                                          <p:spTgt spid="11"/>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1000"/>
                                        <p:tgtEl>
                                          <p:spTgt spid="12"/>
                                        </p:tgtEl>
                                      </p:cBhvr>
                                    </p:animEffect>
                                    <p:anim calcmode="lin" valueType="num">
                                      <p:cBhvr>
                                        <p:cTn id="77" dur="1000" fill="hold"/>
                                        <p:tgtEl>
                                          <p:spTgt spid="12"/>
                                        </p:tgtEl>
                                        <p:attrNameLst>
                                          <p:attrName>ppt_x</p:attrName>
                                        </p:attrNameLst>
                                      </p:cBhvr>
                                      <p:tavLst>
                                        <p:tav tm="0">
                                          <p:val>
                                            <p:strVal val="#ppt_x"/>
                                          </p:val>
                                        </p:tav>
                                        <p:tav tm="100000">
                                          <p:val>
                                            <p:strVal val="#ppt_x"/>
                                          </p:val>
                                        </p:tav>
                                      </p:tavLst>
                                    </p:anim>
                                    <p:anim calcmode="lin" valueType="num">
                                      <p:cBhvr>
                                        <p:cTn id="7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wipe(down)">
                                      <p:cBhvr>
                                        <p:cTn id="83" dur="500"/>
                                        <p:tgtEl>
                                          <p:spTgt spid="13"/>
                                        </p:tgtEl>
                                      </p:cBhvr>
                                    </p:animEffect>
                                  </p:childTnLst>
                                </p:cTn>
                              </p:par>
                            </p:childTnLst>
                          </p:cTn>
                        </p:par>
                      </p:childTnLst>
                    </p:cTn>
                  </p:par>
                  <p:par>
                    <p:cTn id="84" fill="hold">
                      <p:stCondLst>
                        <p:cond delay="indefinite"/>
                      </p:stCondLst>
                      <p:childTnLst>
                        <p:par>
                          <p:cTn id="85" fill="hold">
                            <p:stCondLst>
                              <p:cond delay="0"/>
                            </p:stCondLst>
                            <p:childTnLst>
                              <p:par>
                                <p:cTn id="86" presetID="14" presetClass="entr" presetSubtype="10" fill="hold" grpId="0" nodeType="clickEffect">
                                  <p:stCondLst>
                                    <p:cond delay="0"/>
                                  </p:stCondLst>
                                  <p:childTnLst>
                                    <p:set>
                                      <p:cBhvr>
                                        <p:cTn id="87" dur="1" fill="hold">
                                          <p:stCondLst>
                                            <p:cond delay="0"/>
                                          </p:stCondLst>
                                        </p:cTn>
                                        <p:tgtEl>
                                          <p:spTgt spid="14"/>
                                        </p:tgtEl>
                                        <p:attrNameLst>
                                          <p:attrName>style.visibility</p:attrName>
                                        </p:attrNameLst>
                                      </p:cBhvr>
                                      <p:to>
                                        <p:strVal val="visible"/>
                                      </p:to>
                                    </p:set>
                                    <p:animEffect transition="in" filter="randombar(horizontal)">
                                      <p:cBhvr>
                                        <p:cTn id="88" dur="500"/>
                                        <p:tgtEl>
                                          <p:spTgt spid="14"/>
                                        </p:tgtEl>
                                      </p:cBhvr>
                                    </p:animEffect>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fade">
                                      <p:cBhvr>
                                        <p:cTn id="93" dur="1000"/>
                                        <p:tgtEl>
                                          <p:spTgt spid="15"/>
                                        </p:tgtEl>
                                      </p:cBhvr>
                                    </p:animEffect>
                                    <p:anim calcmode="lin" valueType="num">
                                      <p:cBhvr>
                                        <p:cTn id="94" dur="1000" fill="hold"/>
                                        <p:tgtEl>
                                          <p:spTgt spid="15"/>
                                        </p:tgtEl>
                                        <p:attrNameLst>
                                          <p:attrName>ppt_x</p:attrName>
                                        </p:attrNameLst>
                                      </p:cBhvr>
                                      <p:tavLst>
                                        <p:tav tm="0">
                                          <p:val>
                                            <p:strVal val="#ppt_x"/>
                                          </p:val>
                                        </p:tav>
                                        <p:tav tm="100000">
                                          <p:val>
                                            <p:strVal val="#ppt_x"/>
                                          </p:val>
                                        </p:tav>
                                      </p:tavLst>
                                    </p:anim>
                                    <p:anim calcmode="lin" valueType="num">
                                      <p:cBhvr>
                                        <p:cTn id="9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3" name="TextBox 12"/>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873800"/>
            <a:ext cx="6979087"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Programmation Structurée</a:t>
            </a:r>
            <a:endParaRPr lang="en-US" sz="4300" dirty="0"/>
          </a:p>
        </p:txBody>
      </p:sp>
      <p:pic>
        <p:nvPicPr>
          <p:cNvPr id="4" name="Image 1" descr="preencoded.png"/>
          <p:cNvPicPr>
            <a:picLocks noChangeAspect="1"/>
          </p:cNvPicPr>
          <p:nvPr/>
        </p:nvPicPr>
        <p:blipFill>
          <a:blip r:embed="rId4"/>
          <a:stretch>
            <a:fillRect/>
          </a:stretch>
        </p:blipFill>
        <p:spPr>
          <a:xfrm>
            <a:off x="864037" y="1929884"/>
            <a:ext cx="617220" cy="617220"/>
          </a:xfrm>
          <a:prstGeom prst="rect">
            <a:avLst/>
          </a:prstGeom>
        </p:spPr>
      </p:pic>
      <p:sp>
        <p:nvSpPr>
          <p:cNvPr id="5" name="Text 1"/>
          <p:cNvSpPr/>
          <p:nvPr/>
        </p:nvSpPr>
        <p:spPr>
          <a:xfrm>
            <a:off x="864037" y="2793921"/>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Modules</a:t>
            </a:r>
            <a:endParaRPr lang="en-US" sz="2150" dirty="0"/>
          </a:p>
        </p:txBody>
      </p:sp>
      <p:sp>
        <p:nvSpPr>
          <p:cNvPr id="6" name="Text 2"/>
          <p:cNvSpPr/>
          <p:nvPr/>
        </p:nvSpPr>
        <p:spPr>
          <a:xfrm>
            <a:off x="864037" y="3284934"/>
            <a:ext cx="3522821" cy="1185148"/>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Diviser un programme en blocs de code réutilisables et indépendants.</a:t>
            </a:r>
            <a:endParaRPr lang="en-US" sz="1900" dirty="0"/>
          </a:p>
        </p:txBody>
      </p:sp>
      <p:pic>
        <p:nvPicPr>
          <p:cNvPr id="7" name="Image 2" descr="preencoded.png"/>
          <p:cNvPicPr>
            <a:picLocks noChangeAspect="1"/>
          </p:cNvPicPr>
          <p:nvPr/>
        </p:nvPicPr>
        <p:blipFill>
          <a:blip r:embed="rId5"/>
          <a:stretch>
            <a:fillRect/>
          </a:stretch>
        </p:blipFill>
        <p:spPr>
          <a:xfrm>
            <a:off x="4757142" y="1929884"/>
            <a:ext cx="617220" cy="617220"/>
          </a:xfrm>
          <a:prstGeom prst="rect">
            <a:avLst/>
          </a:prstGeom>
        </p:spPr>
      </p:pic>
      <p:sp>
        <p:nvSpPr>
          <p:cNvPr id="8" name="Text 3"/>
          <p:cNvSpPr/>
          <p:nvPr/>
        </p:nvSpPr>
        <p:spPr>
          <a:xfrm>
            <a:off x="4757142" y="2793921"/>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Fonctions</a:t>
            </a:r>
            <a:endParaRPr lang="en-US" sz="2150" dirty="0"/>
          </a:p>
        </p:txBody>
      </p:sp>
      <p:sp>
        <p:nvSpPr>
          <p:cNvPr id="9" name="Text 4"/>
          <p:cNvSpPr/>
          <p:nvPr/>
        </p:nvSpPr>
        <p:spPr>
          <a:xfrm>
            <a:off x="4757142" y="3284934"/>
            <a:ext cx="3522821"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Des blocs de code nommés qui effectuent une tâche spécifique.</a:t>
            </a:r>
            <a:endParaRPr lang="en-US" sz="1900" dirty="0"/>
          </a:p>
        </p:txBody>
      </p:sp>
      <p:pic>
        <p:nvPicPr>
          <p:cNvPr id="10" name="Image 3" descr="preencoded.png"/>
          <p:cNvPicPr>
            <a:picLocks noChangeAspect="1"/>
          </p:cNvPicPr>
          <p:nvPr/>
        </p:nvPicPr>
        <p:blipFill>
          <a:blip r:embed="rId6"/>
          <a:stretch>
            <a:fillRect/>
          </a:stretch>
        </p:blipFill>
        <p:spPr>
          <a:xfrm>
            <a:off x="864037" y="5210651"/>
            <a:ext cx="617220" cy="617220"/>
          </a:xfrm>
          <a:prstGeom prst="rect">
            <a:avLst/>
          </a:prstGeom>
        </p:spPr>
      </p:pic>
      <p:sp>
        <p:nvSpPr>
          <p:cNvPr id="11" name="Text 5"/>
          <p:cNvSpPr/>
          <p:nvPr/>
        </p:nvSpPr>
        <p:spPr>
          <a:xfrm>
            <a:off x="864037" y="6074688"/>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Structure</a:t>
            </a:r>
            <a:endParaRPr lang="en-US" sz="2150" dirty="0"/>
          </a:p>
        </p:txBody>
      </p:sp>
      <p:sp>
        <p:nvSpPr>
          <p:cNvPr id="12" name="Text 6"/>
          <p:cNvSpPr/>
          <p:nvPr/>
        </p:nvSpPr>
        <p:spPr>
          <a:xfrm>
            <a:off x="864037" y="6565702"/>
            <a:ext cx="3522821"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Organiser le code de manière logique et facile à comprendre.</a:t>
            </a:r>
            <a:endParaRPr lang="en-US"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80">
                                          <p:stCondLst>
                                            <p:cond delay="0"/>
                                          </p:stCondLst>
                                        </p:cTn>
                                        <p:tgtEl>
                                          <p:spTgt spid="2"/>
                                        </p:tgtEl>
                                      </p:cBhvr>
                                    </p:animEffect>
                                    <p:anim calcmode="lin" valueType="num">
                                      <p:cBhvr>
                                        <p:cTn id="15"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0" dur="26">
                                          <p:stCondLst>
                                            <p:cond delay="650"/>
                                          </p:stCondLst>
                                        </p:cTn>
                                        <p:tgtEl>
                                          <p:spTgt spid="2"/>
                                        </p:tgtEl>
                                      </p:cBhvr>
                                      <p:to x="100000" y="60000"/>
                                    </p:animScale>
                                    <p:animScale>
                                      <p:cBhvr>
                                        <p:cTn id="21" dur="166" decel="50000">
                                          <p:stCondLst>
                                            <p:cond delay="676"/>
                                          </p:stCondLst>
                                        </p:cTn>
                                        <p:tgtEl>
                                          <p:spTgt spid="2"/>
                                        </p:tgtEl>
                                      </p:cBhvr>
                                      <p:to x="100000" y="100000"/>
                                    </p:animScale>
                                    <p:animScale>
                                      <p:cBhvr>
                                        <p:cTn id="22" dur="26">
                                          <p:stCondLst>
                                            <p:cond delay="1312"/>
                                          </p:stCondLst>
                                        </p:cTn>
                                        <p:tgtEl>
                                          <p:spTgt spid="2"/>
                                        </p:tgtEl>
                                      </p:cBhvr>
                                      <p:to x="100000" y="80000"/>
                                    </p:animScale>
                                    <p:animScale>
                                      <p:cBhvr>
                                        <p:cTn id="23" dur="166" decel="50000">
                                          <p:stCondLst>
                                            <p:cond delay="1338"/>
                                          </p:stCondLst>
                                        </p:cTn>
                                        <p:tgtEl>
                                          <p:spTgt spid="2"/>
                                        </p:tgtEl>
                                      </p:cBhvr>
                                      <p:to x="100000" y="100000"/>
                                    </p:animScale>
                                    <p:animScale>
                                      <p:cBhvr>
                                        <p:cTn id="24" dur="26">
                                          <p:stCondLst>
                                            <p:cond delay="1642"/>
                                          </p:stCondLst>
                                        </p:cTn>
                                        <p:tgtEl>
                                          <p:spTgt spid="2"/>
                                        </p:tgtEl>
                                      </p:cBhvr>
                                      <p:to x="100000" y="90000"/>
                                    </p:animScale>
                                    <p:animScale>
                                      <p:cBhvr>
                                        <p:cTn id="25" dur="166" decel="50000">
                                          <p:stCondLst>
                                            <p:cond delay="1668"/>
                                          </p:stCondLst>
                                        </p:cTn>
                                        <p:tgtEl>
                                          <p:spTgt spid="2"/>
                                        </p:tgtEl>
                                      </p:cBhvr>
                                      <p:to x="100000" y="100000"/>
                                    </p:animScale>
                                    <p:animScale>
                                      <p:cBhvr>
                                        <p:cTn id="26" dur="26">
                                          <p:stCondLst>
                                            <p:cond delay="1808"/>
                                          </p:stCondLst>
                                        </p:cTn>
                                        <p:tgtEl>
                                          <p:spTgt spid="2"/>
                                        </p:tgtEl>
                                      </p:cBhvr>
                                      <p:to x="100000" y="95000"/>
                                    </p:animScale>
                                    <p:animScale>
                                      <p:cBhvr>
                                        <p:cTn id="27" dur="166" decel="50000">
                                          <p:stCondLst>
                                            <p:cond delay="1834"/>
                                          </p:stCondLst>
                                        </p:cTn>
                                        <p:tgtEl>
                                          <p:spTgt spid="2"/>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randombar(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p:cTn id="44" dur="1000" fill="hold"/>
                                        <p:tgtEl>
                                          <p:spTgt spid="6"/>
                                        </p:tgtEl>
                                        <p:attrNameLst>
                                          <p:attrName>ppt_w</p:attrName>
                                        </p:attrNameLst>
                                      </p:cBhvr>
                                      <p:tavLst>
                                        <p:tav tm="0">
                                          <p:val>
                                            <p:fltVal val="0"/>
                                          </p:val>
                                        </p:tav>
                                        <p:tav tm="100000">
                                          <p:val>
                                            <p:strVal val="#ppt_w"/>
                                          </p:val>
                                        </p:tav>
                                      </p:tavLst>
                                    </p:anim>
                                    <p:anim calcmode="lin" valueType="num">
                                      <p:cBhvr>
                                        <p:cTn id="45" dur="1000" fill="hold"/>
                                        <p:tgtEl>
                                          <p:spTgt spid="6"/>
                                        </p:tgtEl>
                                        <p:attrNameLst>
                                          <p:attrName>ppt_h</p:attrName>
                                        </p:attrNameLst>
                                      </p:cBhvr>
                                      <p:tavLst>
                                        <p:tav tm="0">
                                          <p:val>
                                            <p:fltVal val="0"/>
                                          </p:val>
                                        </p:tav>
                                        <p:tav tm="100000">
                                          <p:val>
                                            <p:strVal val="#ppt_h"/>
                                          </p:val>
                                        </p:tav>
                                      </p:tavLst>
                                    </p:anim>
                                    <p:anim calcmode="lin" valueType="num">
                                      <p:cBhvr>
                                        <p:cTn id="46" dur="1000" fill="hold"/>
                                        <p:tgtEl>
                                          <p:spTgt spid="6"/>
                                        </p:tgtEl>
                                        <p:attrNameLst>
                                          <p:attrName>style.rotation</p:attrName>
                                        </p:attrNameLst>
                                      </p:cBhvr>
                                      <p:tavLst>
                                        <p:tav tm="0">
                                          <p:val>
                                            <p:fltVal val="90"/>
                                          </p:val>
                                        </p:tav>
                                        <p:tav tm="100000">
                                          <p:val>
                                            <p:fltVal val="0"/>
                                          </p:val>
                                        </p:tav>
                                      </p:tavLst>
                                    </p:anim>
                                    <p:animEffect transition="in" filter="fade">
                                      <p:cBhvr>
                                        <p:cTn id="47" dur="10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randombar(horizontal)">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1000"/>
                                        <p:tgtEl>
                                          <p:spTgt spid="8"/>
                                        </p:tgtEl>
                                      </p:cBhvr>
                                    </p:animEffect>
                                    <p:anim calcmode="lin" valueType="num">
                                      <p:cBhvr>
                                        <p:cTn id="58" dur="1000" fill="hold"/>
                                        <p:tgtEl>
                                          <p:spTgt spid="8"/>
                                        </p:tgtEl>
                                        <p:attrNameLst>
                                          <p:attrName>ppt_x</p:attrName>
                                        </p:attrNameLst>
                                      </p:cBhvr>
                                      <p:tavLst>
                                        <p:tav tm="0">
                                          <p:val>
                                            <p:strVal val="#ppt_x"/>
                                          </p:val>
                                        </p:tav>
                                        <p:tav tm="100000">
                                          <p:val>
                                            <p:strVal val="#ppt_x"/>
                                          </p:val>
                                        </p:tav>
                                      </p:tavLst>
                                    </p:anim>
                                    <p:anim calcmode="lin" valueType="num">
                                      <p:cBhvr>
                                        <p:cTn id="5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1" presetClass="entr" presetSubtype="0" fill="hold" grpId="0" nodeType="clickEffect">
                                  <p:stCondLst>
                                    <p:cond delay="0"/>
                                  </p:stCondLst>
                                  <p:childTnLst>
                                    <p:set>
                                      <p:cBhvr>
                                        <p:cTn id="63" dur="1" fill="hold">
                                          <p:stCondLst>
                                            <p:cond delay="0"/>
                                          </p:stCondLst>
                                        </p:cTn>
                                        <p:tgtEl>
                                          <p:spTgt spid="9"/>
                                        </p:tgtEl>
                                        <p:attrNameLst>
                                          <p:attrName>style.visibility</p:attrName>
                                        </p:attrNameLst>
                                      </p:cBhvr>
                                      <p:to>
                                        <p:strVal val="visible"/>
                                      </p:to>
                                    </p:set>
                                    <p:anim calcmode="lin" valueType="num">
                                      <p:cBhvr>
                                        <p:cTn id="64" dur="1000" fill="hold"/>
                                        <p:tgtEl>
                                          <p:spTgt spid="9"/>
                                        </p:tgtEl>
                                        <p:attrNameLst>
                                          <p:attrName>ppt_w</p:attrName>
                                        </p:attrNameLst>
                                      </p:cBhvr>
                                      <p:tavLst>
                                        <p:tav tm="0">
                                          <p:val>
                                            <p:fltVal val="0"/>
                                          </p:val>
                                        </p:tav>
                                        <p:tav tm="100000">
                                          <p:val>
                                            <p:strVal val="#ppt_w"/>
                                          </p:val>
                                        </p:tav>
                                      </p:tavLst>
                                    </p:anim>
                                    <p:anim calcmode="lin" valueType="num">
                                      <p:cBhvr>
                                        <p:cTn id="65" dur="1000" fill="hold"/>
                                        <p:tgtEl>
                                          <p:spTgt spid="9"/>
                                        </p:tgtEl>
                                        <p:attrNameLst>
                                          <p:attrName>ppt_h</p:attrName>
                                        </p:attrNameLst>
                                      </p:cBhvr>
                                      <p:tavLst>
                                        <p:tav tm="0">
                                          <p:val>
                                            <p:fltVal val="0"/>
                                          </p:val>
                                        </p:tav>
                                        <p:tav tm="100000">
                                          <p:val>
                                            <p:strVal val="#ppt_h"/>
                                          </p:val>
                                        </p:tav>
                                      </p:tavLst>
                                    </p:anim>
                                    <p:anim calcmode="lin" valueType="num">
                                      <p:cBhvr>
                                        <p:cTn id="66" dur="1000" fill="hold"/>
                                        <p:tgtEl>
                                          <p:spTgt spid="9"/>
                                        </p:tgtEl>
                                        <p:attrNameLst>
                                          <p:attrName>style.rotation</p:attrName>
                                        </p:attrNameLst>
                                      </p:cBhvr>
                                      <p:tavLst>
                                        <p:tav tm="0">
                                          <p:val>
                                            <p:fltVal val="90"/>
                                          </p:val>
                                        </p:tav>
                                        <p:tav tm="100000">
                                          <p:val>
                                            <p:fltVal val="0"/>
                                          </p:val>
                                        </p:tav>
                                      </p:tavLst>
                                    </p:anim>
                                    <p:animEffect transition="in" filter="fade">
                                      <p:cBhvr>
                                        <p:cTn id="67" dur="10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randombar(horizontal)">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fade">
                                      <p:cBhvr>
                                        <p:cTn id="77" dur="1000"/>
                                        <p:tgtEl>
                                          <p:spTgt spid="11"/>
                                        </p:tgtEl>
                                      </p:cBhvr>
                                    </p:animEffect>
                                    <p:anim calcmode="lin" valueType="num">
                                      <p:cBhvr>
                                        <p:cTn id="78" dur="1000" fill="hold"/>
                                        <p:tgtEl>
                                          <p:spTgt spid="11"/>
                                        </p:tgtEl>
                                        <p:attrNameLst>
                                          <p:attrName>ppt_x</p:attrName>
                                        </p:attrNameLst>
                                      </p:cBhvr>
                                      <p:tavLst>
                                        <p:tav tm="0">
                                          <p:val>
                                            <p:strVal val="#ppt_x"/>
                                          </p:val>
                                        </p:tav>
                                        <p:tav tm="100000">
                                          <p:val>
                                            <p:strVal val="#ppt_x"/>
                                          </p:val>
                                        </p:tav>
                                      </p:tavLst>
                                    </p:anim>
                                    <p:anim calcmode="lin" valueType="num">
                                      <p:cBhvr>
                                        <p:cTn id="7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31" presetClass="entr" presetSubtype="0"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p:cTn id="84" dur="1000" fill="hold"/>
                                        <p:tgtEl>
                                          <p:spTgt spid="12"/>
                                        </p:tgtEl>
                                        <p:attrNameLst>
                                          <p:attrName>ppt_w</p:attrName>
                                        </p:attrNameLst>
                                      </p:cBhvr>
                                      <p:tavLst>
                                        <p:tav tm="0">
                                          <p:val>
                                            <p:fltVal val="0"/>
                                          </p:val>
                                        </p:tav>
                                        <p:tav tm="100000">
                                          <p:val>
                                            <p:strVal val="#ppt_w"/>
                                          </p:val>
                                        </p:tav>
                                      </p:tavLst>
                                    </p:anim>
                                    <p:anim calcmode="lin" valueType="num">
                                      <p:cBhvr>
                                        <p:cTn id="85" dur="1000" fill="hold"/>
                                        <p:tgtEl>
                                          <p:spTgt spid="12"/>
                                        </p:tgtEl>
                                        <p:attrNameLst>
                                          <p:attrName>ppt_h</p:attrName>
                                        </p:attrNameLst>
                                      </p:cBhvr>
                                      <p:tavLst>
                                        <p:tav tm="0">
                                          <p:val>
                                            <p:fltVal val="0"/>
                                          </p:val>
                                        </p:tav>
                                        <p:tav tm="100000">
                                          <p:val>
                                            <p:strVal val="#ppt_h"/>
                                          </p:val>
                                        </p:tav>
                                      </p:tavLst>
                                    </p:anim>
                                    <p:anim calcmode="lin" valueType="num">
                                      <p:cBhvr>
                                        <p:cTn id="86" dur="1000" fill="hold"/>
                                        <p:tgtEl>
                                          <p:spTgt spid="12"/>
                                        </p:tgtEl>
                                        <p:attrNameLst>
                                          <p:attrName>style.rotation</p:attrName>
                                        </p:attrNameLst>
                                      </p:cBhvr>
                                      <p:tavLst>
                                        <p:tav tm="0">
                                          <p:val>
                                            <p:fltVal val="90"/>
                                          </p:val>
                                        </p:tav>
                                        <p:tav tm="100000">
                                          <p:val>
                                            <p:fltVal val="0"/>
                                          </p:val>
                                        </p:tav>
                                      </p:tavLst>
                                    </p:anim>
                                    <p:animEffect transition="in" filter="fade">
                                      <p:cBhvr>
                                        <p:cTn id="8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22778"/>
          </a:xfrm>
          <a:prstGeom prst="rect">
            <a:avLst/>
          </a:prstGeom>
        </p:spPr>
      </p:pic>
      <p:sp>
        <p:nvSpPr>
          <p:cNvPr id="3" name="Text 0"/>
          <p:cNvSpPr/>
          <p:nvPr/>
        </p:nvSpPr>
        <p:spPr>
          <a:xfrm>
            <a:off x="622340" y="2712006"/>
            <a:ext cx="7233404" cy="493871"/>
          </a:xfrm>
          <a:prstGeom prst="rect">
            <a:avLst/>
          </a:prstGeom>
          <a:noFill/>
          <a:ln/>
        </p:spPr>
        <p:txBody>
          <a:bodyPr wrap="none" lIns="0" tIns="0" rIns="0" bIns="0" rtlCol="0" anchor="t"/>
          <a:lstStyle/>
          <a:p>
            <a:pPr marL="0" indent="0">
              <a:lnSpc>
                <a:spcPts val="3850"/>
              </a:lnSpc>
              <a:buNone/>
            </a:pPr>
            <a:r>
              <a:rPr lang="en-US" sz="3100" b="1" dirty="0">
                <a:solidFill>
                  <a:srgbClr val="F0FCFF"/>
                </a:solidFill>
                <a:latin typeface="Spline Sans Bold" pitchFamily="34" charset="0"/>
                <a:ea typeface="Spline Sans Bold" pitchFamily="34" charset="-122"/>
                <a:cs typeface="Spline Sans Bold" pitchFamily="34" charset="-120"/>
              </a:rPr>
              <a:t>Concepts de Base de la Programmation</a:t>
            </a:r>
            <a:endParaRPr lang="en-US" sz="3100" dirty="0"/>
          </a:p>
        </p:txBody>
      </p:sp>
      <p:pic>
        <p:nvPicPr>
          <p:cNvPr id="4" name="Image 1" descr="preencoded.png"/>
          <p:cNvPicPr>
            <a:picLocks noChangeAspect="1"/>
          </p:cNvPicPr>
          <p:nvPr/>
        </p:nvPicPr>
        <p:blipFill>
          <a:blip r:embed="rId4"/>
          <a:stretch>
            <a:fillRect/>
          </a:stretch>
        </p:blipFill>
        <p:spPr>
          <a:xfrm>
            <a:off x="622340" y="3472577"/>
            <a:ext cx="889040" cy="1422559"/>
          </a:xfrm>
          <a:prstGeom prst="rect">
            <a:avLst/>
          </a:prstGeom>
        </p:spPr>
      </p:pic>
      <p:sp>
        <p:nvSpPr>
          <p:cNvPr id="5" name="Text 1"/>
          <p:cNvSpPr/>
          <p:nvPr/>
        </p:nvSpPr>
        <p:spPr>
          <a:xfrm>
            <a:off x="1778079" y="3650337"/>
            <a:ext cx="1975842" cy="247055"/>
          </a:xfrm>
          <a:prstGeom prst="rect">
            <a:avLst/>
          </a:prstGeom>
          <a:noFill/>
          <a:ln/>
        </p:spPr>
        <p:txBody>
          <a:bodyPr wrap="none" lIns="0" tIns="0" rIns="0" bIns="0" rtlCol="0" anchor="t"/>
          <a:lstStyle/>
          <a:p>
            <a:pPr marL="0" indent="0" algn="l">
              <a:lnSpc>
                <a:spcPts val="1900"/>
              </a:lnSpc>
              <a:buNone/>
            </a:pPr>
            <a:r>
              <a:rPr lang="en-US" sz="1550" b="1" dirty="0">
                <a:solidFill>
                  <a:srgbClr val="E0E4E6"/>
                </a:solidFill>
                <a:latin typeface="Spline Sans Bold" pitchFamily="34" charset="0"/>
                <a:ea typeface="Spline Sans Bold" pitchFamily="34" charset="-122"/>
                <a:cs typeface="Spline Sans Bold" pitchFamily="34" charset="-120"/>
              </a:rPr>
              <a:t>Variables</a:t>
            </a:r>
            <a:endParaRPr lang="en-US" sz="1550" dirty="0"/>
          </a:p>
        </p:txBody>
      </p:sp>
      <p:sp>
        <p:nvSpPr>
          <p:cNvPr id="6" name="Text 2"/>
          <p:cNvSpPr/>
          <p:nvPr/>
        </p:nvSpPr>
        <p:spPr>
          <a:xfrm>
            <a:off x="1778079" y="4004072"/>
            <a:ext cx="12229981" cy="284559"/>
          </a:xfrm>
          <a:prstGeom prst="rect">
            <a:avLst/>
          </a:prstGeom>
          <a:noFill/>
          <a:ln/>
        </p:spPr>
        <p:txBody>
          <a:bodyPr wrap="none" lIns="0" tIns="0" rIns="0" bIns="0" rtlCol="0" anchor="t"/>
          <a:lstStyle/>
          <a:p>
            <a:pPr marL="0" indent="0" algn="l">
              <a:lnSpc>
                <a:spcPts val="2200"/>
              </a:lnSpc>
              <a:buNone/>
            </a:pPr>
            <a:r>
              <a:rPr lang="en-US" sz="1400" dirty="0">
                <a:solidFill>
                  <a:srgbClr val="E0E4E6"/>
                </a:solidFill>
                <a:latin typeface="Barlow" pitchFamily="34" charset="0"/>
                <a:ea typeface="Barlow" pitchFamily="34" charset="-122"/>
                <a:cs typeface="Barlow" pitchFamily="34" charset="-120"/>
              </a:rPr>
              <a:t>Conteneurs pour stocker des données (nombres, textes, etc.).</a:t>
            </a:r>
            <a:endParaRPr lang="en-US" sz="1400" dirty="0"/>
          </a:p>
        </p:txBody>
      </p:sp>
      <p:pic>
        <p:nvPicPr>
          <p:cNvPr id="7" name="Image 2" descr="preencoded.png"/>
          <p:cNvPicPr>
            <a:picLocks noChangeAspect="1"/>
          </p:cNvPicPr>
          <p:nvPr/>
        </p:nvPicPr>
        <p:blipFill>
          <a:blip r:embed="rId5"/>
          <a:stretch>
            <a:fillRect/>
          </a:stretch>
        </p:blipFill>
        <p:spPr>
          <a:xfrm>
            <a:off x="622340" y="4895136"/>
            <a:ext cx="889040" cy="1422559"/>
          </a:xfrm>
          <a:prstGeom prst="rect">
            <a:avLst/>
          </a:prstGeom>
        </p:spPr>
      </p:pic>
      <p:sp>
        <p:nvSpPr>
          <p:cNvPr id="8" name="Text 3"/>
          <p:cNvSpPr/>
          <p:nvPr/>
        </p:nvSpPr>
        <p:spPr>
          <a:xfrm>
            <a:off x="1778079" y="5072896"/>
            <a:ext cx="1975842" cy="247055"/>
          </a:xfrm>
          <a:prstGeom prst="rect">
            <a:avLst/>
          </a:prstGeom>
          <a:noFill/>
          <a:ln/>
        </p:spPr>
        <p:txBody>
          <a:bodyPr wrap="none" lIns="0" tIns="0" rIns="0" bIns="0" rtlCol="0" anchor="t"/>
          <a:lstStyle/>
          <a:p>
            <a:pPr marL="0" indent="0" algn="l">
              <a:lnSpc>
                <a:spcPts val="1900"/>
              </a:lnSpc>
              <a:buNone/>
            </a:pPr>
            <a:r>
              <a:rPr lang="en-US" sz="1550" b="1" dirty="0">
                <a:solidFill>
                  <a:srgbClr val="E0E4E6"/>
                </a:solidFill>
                <a:latin typeface="Spline Sans Bold" pitchFamily="34" charset="0"/>
                <a:ea typeface="Spline Sans Bold" pitchFamily="34" charset="-122"/>
                <a:cs typeface="Spline Sans Bold" pitchFamily="34" charset="-120"/>
              </a:rPr>
              <a:t>Boucles</a:t>
            </a:r>
            <a:endParaRPr lang="en-US" sz="1550" dirty="0"/>
          </a:p>
        </p:txBody>
      </p:sp>
      <p:sp>
        <p:nvSpPr>
          <p:cNvPr id="9" name="Text 4"/>
          <p:cNvSpPr/>
          <p:nvPr/>
        </p:nvSpPr>
        <p:spPr>
          <a:xfrm>
            <a:off x="1778079" y="5426631"/>
            <a:ext cx="12229981" cy="284559"/>
          </a:xfrm>
          <a:prstGeom prst="rect">
            <a:avLst/>
          </a:prstGeom>
          <a:noFill/>
          <a:ln/>
        </p:spPr>
        <p:txBody>
          <a:bodyPr wrap="none" lIns="0" tIns="0" rIns="0" bIns="0" rtlCol="0" anchor="t"/>
          <a:lstStyle/>
          <a:p>
            <a:pPr marL="0" indent="0" algn="l">
              <a:lnSpc>
                <a:spcPts val="2200"/>
              </a:lnSpc>
              <a:buNone/>
            </a:pPr>
            <a:r>
              <a:rPr lang="en-US" sz="1400" dirty="0">
                <a:solidFill>
                  <a:srgbClr val="E0E4E6"/>
                </a:solidFill>
                <a:latin typeface="Barlow" pitchFamily="34" charset="0"/>
                <a:ea typeface="Barlow" pitchFamily="34" charset="-122"/>
                <a:cs typeface="Barlow" pitchFamily="34" charset="-120"/>
              </a:rPr>
              <a:t>Répéter un bloc de code plusieurs fois (tant que, pour).</a:t>
            </a:r>
            <a:endParaRPr lang="en-US" sz="1400" dirty="0"/>
          </a:p>
        </p:txBody>
      </p:sp>
      <p:pic>
        <p:nvPicPr>
          <p:cNvPr id="10" name="Image 3" descr="preencoded.png"/>
          <p:cNvPicPr>
            <a:picLocks noChangeAspect="1"/>
          </p:cNvPicPr>
          <p:nvPr/>
        </p:nvPicPr>
        <p:blipFill>
          <a:blip r:embed="rId6"/>
          <a:stretch>
            <a:fillRect/>
          </a:stretch>
        </p:blipFill>
        <p:spPr>
          <a:xfrm>
            <a:off x="622340" y="6317694"/>
            <a:ext cx="889040" cy="1422559"/>
          </a:xfrm>
          <a:prstGeom prst="rect">
            <a:avLst/>
          </a:prstGeom>
        </p:spPr>
      </p:pic>
      <p:sp>
        <p:nvSpPr>
          <p:cNvPr id="11" name="Text 5"/>
          <p:cNvSpPr/>
          <p:nvPr/>
        </p:nvSpPr>
        <p:spPr>
          <a:xfrm>
            <a:off x="1778079" y="6495455"/>
            <a:ext cx="1975842" cy="247055"/>
          </a:xfrm>
          <a:prstGeom prst="rect">
            <a:avLst/>
          </a:prstGeom>
          <a:noFill/>
          <a:ln/>
        </p:spPr>
        <p:txBody>
          <a:bodyPr wrap="none" lIns="0" tIns="0" rIns="0" bIns="0" rtlCol="0" anchor="t"/>
          <a:lstStyle/>
          <a:p>
            <a:pPr marL="0" indent="0" algn="l">
              <a:lnSpc>
                <a:spcPts val="1900"/>
              </a:lnSpc>
              <a:buNone/>
            </a:pPr>
            <a:r>
              <a:rPr lang="en-US" sz="1550" b="1" dirty="0">
                <a:solidFill>
                  <a:srgbClr val="E0E4E6"/>
                </a:solidFill>
                <a:latin typeface="Spline Sans Bold" pitchFamily="34" charset="0"/>
                <a:ea typeface="Spline Sans Bold" pitchFamily="34" charset="-122"/>
                <a:cs typeface="Spline Sans Bold" pitchFamily="34" charset="-120"/>
              </a:rPr>
              <a:t>Conditions</a:t>
            </a:r>
            <a:endParaRPr lang="en-US" sz="1550" dirty="0"/>
          </a:p>
        </p:txBody>
      </p:sp>
      <p:sp>
        <p:nvSpPr>
          <p:cNvPr id="12" name="Text 6"/>
          <p:cNvSpPr/>
          <p:nvPr/>
        </p:nvSpPr>
        <p:spPr>
          <a:xfrm>
            <a:off x="1778079" y="6849189"/>
            <a:ext cx="12229981" cy="284559"/>
          </a:xfrm>
          <a:prstGeom prst="rect">
            <a:avLst/>
          </a:prstGeom>
          <a:noFill/>
          <a:ln/>
        </p:spPr>
        <p:txBody>
          <a:bodyPr wrap="none" lIns="0" tIns="0" rIns="0" bIns="0" rtlCol="0" anchor="t"/>
          <a:lstStyle/>
          <a:p>
            <a:pPr marL="0" indent="0" algn="l">
              <a:lnSpc>
                <a:spcPts val="2200"/>
              </a:lnSpc>
              <a:buNone/>
            </a:pPr>
            <a:r>
              <a:rPr lang="en-US" sz="1400" dirty="0">
                <a:solidFill>
                  <a:srgbClr val="E0E4E6"/>
                </a:solidFill>
                <a:latin typeface="Barlow" pitchFamily="34" charset="0"/>
                <a:ea typeface="Barlow" pitchFamily="34" charset="-122"/>
                <a:cs typeface="Barlow" pitchFamily="34" charset="-120"/>
              </a:rPr>
              <a:t>Exécuter des blocs de code en fonction de conditions (si, alors, sinon).</a:t>
            </a:r>
            <a:endParaRPr lang="en-US" sz="1400" dirty="0"/>
          </a:p>
        </p:txBody>
      </p:sp>
      <p:sp>
        <p:nvSpPr>
          <p:cNvPr id="13" name="TextBox 12"/>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1000"/>
                                        <p:tgtEl>
                                          <p:spTgt spid="10"/>
                                        </p:tgtEl>
                                      </p:cBhvr>
                                    </p:animEffect>
                                    <p:anim calcmode="lin" valueType="num">
                                      <p:cBhvr>
                                        <p:cTn id="58" dur="1000" fill="hold"/>
                                        <p:tgtEl>
                                          <p:spTgt spid="10"/>
                                        </p:tgtEl>
                                        <p:attrNameLst>
                                          <p:attrName>ppt_x</p:attrName>
                                        </p:attrNameLst>
                                      </p:cBhvr>
                                      <p:tavLst>
                                        <p:tav tm="0">
                                          <p:val>
                                            <p:strVal val="#ppt_x"/>
                                          </p:val>
                                        </p:tav>
                                        <p:tav tm="100000">
                                          <p:val>
                                            <p:strVal val="#ppt_x"/>
                                          </p:val>
                                        </p:tav>
                                      </p:tavLst>
                                    </p:anim>
                                    <p:anim calcmode="lin" valueType="num">
                                      <p:cBhvr>
                                        <p:cTn id="5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1000"/>
                                        <p:tgtEl>
                                          <p:spTgt spid="11"/>
                                        </p:tgtEl>
                                      </p:cBhvr>
                                    </p:animEffect>
                                    <p:anim calcmode="lin" valueType="num">
                                      <p:cBhvr>
                                        <p:cTn id="65" dur="1000" fill="hold"/>
                                        <p:tgtEl>
                                          <p:spTgt spid="11"/>
                                        </p:tgtEl>
                                        <p:attrNameLst>
                                          <p:attrName>ppt_x</p:attrName>
                                        </p:attrNameLst>
                                      </p:cBhvr>
                                      <p:tavLst>
                                        <p:tav tm="0">
                                          <p:val>
                                            <p:strVal val="#ppt_x"/>
                                          </p:val>
                                        </p:tav>
                                        <p:tav tm="100000">
                                          <p:val>
                                            <p:strVal val="#ppt_x"/>
                                          </p:val>
                                        </p:tav>
                                      </p:tavLst>
                                    </p:anim>
                                    <p:anim calcmode="lin" valueType="num">
                                      <p:cBhvr>
                                        <p:cTn id="6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801172"/>
            <a:ext cx="7425095"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Langages de Programmation</a:t>
            </a:r>
            <a:endParaRPr lang="en-US" sz="4300" dirty="0"/>
          </a:p>
        </p:txBody>
      </p:sp>
      <p:pic>
        <p:nvPicPr>
          <p:cNvPr id="3" name="Image 0" descr="preencoded.png"/>
          <p:cNvPicPr>
            <a:picLocks noChangeAspect="1"/>
          </p:cNvPicPr>
          <p:nvPr/>
        </p:nvPicPr>
        <p:blipFill>
          <a:blip r:embed="rId3"/>
          <a:stretch>
            <a:fillRect/>
          </a:stretch>
        </p:blipFill>
        <p:spPr>
          <a:xfrm>
            <a:off x="3025140" y="1980724"/>
            <a:ext cx="2128838" cy="1774746"/>
          </a:xfrm>
          <a:prstGeom prst="rect">
            <a:avLst/>
          </a:prstGeom>
        </p:spPr>
      </p:pic>
      <p:sp>
        <p:nvSpPr>
          <p:cNvPr id="4" name="Text 1"/>
          <p:cNvSpPr/>
          <p:nvPr/>
        </p:nvSpPr>
        <p:spPr>
          <a:xfrm>
            <a:off x="4022765" y="2850356"/>
            <a:ext cx="133588"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1</a:t>
            </a:r>
            <a:endParaRPr lang="en-US" sz="2400" dirty="0"/>
          </a:p>
        </p:txBody>
      </p:sp>
      <p:sp>
        <p:nvSpPr>
          <p:cNvPr id="5" name="Text 2"/>
          <p:cNvSpPr/>
          <p:nvPr/>
        </p:nvSpPr>
        <p:spPr>
          <a:xfrm>
            <a:off x="5400794" y="2227540"/>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Python</a:t>
            </a:r>
            <a:endParaRPr lang="en-US" sz="2150" dirty="0"/>
          </a:p>
        </p:txBody>
      </p:sp>
      <p:sp>
        <p:nvSpPr>
          <p:cNvPr id="6" name="Text 3"/>
          <p:cNvSpPr/>
          <p:nvPr/>
        </p:nvSpPr>
        <p:spPr>
          <a:xfrm>
            <a:off x="5400794" y="2718554"/>
            <a:ext cx="8118753"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Facile à apprendre, polyvalent, utilisé pour le machine learning et l'analyse de données.</a:t>
            </a:r>
            <a:endParaRPr lang="en-US" sz="1900" dirty="0"/>
          </a:p>
        </p:txBody>
      </p:sp>
      <p:sp>
        <p:nvSpPr>
          <p:cNvPr id="7" name="Shape 4"/>
          <p:cNvSpPr/>
          <p:nvPr/>
        </p:nvSpPr>
        <p:spPr>
          <a:xfrm>
            <a:off x="5215652" y="3771067"/>
            <a:ext cx="8489037" cy="15240"/>
          </a:xfrm>
          <a:prstGeom prst="roundRect">
            <a:avLst>
              <a:gd name="adj" fmla="val 2430000"/>
            </a:avLst>
          </a:prstGeom>
          <a:solidFill>
            <a:srgbClr val="16FFBB"/>
          </a:solidFill>
          <a:ln/>
        </p:spPr>
      </p:sp>
      <p:pic>
        <p:nvPicPr>
          <p:cNvPr id="8" name="Image 1" descr="preencoded.png"/>
          <p:cNvPicPr>
            <a:picLocks noChangeAspect="1"/>
          </p:cNvPicPr>
          <p:nvPr/>
        </p:nvPicPr>
        <p:blipFill>
          <a:blip r:embed="rId4"/>
          <a:stretch>
            <a:fillRect/>
          </a:stretch>
        </p:blipFill>
        <p:spPr>
          <a:xfrm>
            <a:off x="1960721" y="3817144"/>
            <a:ext cx="4257675" cy="1774746"/>
          </a:xfrm>
          <a:prstGeom prst="rect">
            <a:avLst/>
          </a:prstGeom>
        </p:spPr>
      </p:pic>
      <p:sp>
        <p:nvSpPr>
          <p:cNvPr id="9" name="Text 5"/>
          <p:cNvSpPr/>
          <p:nvPr/>
        </p:nvSpPr>
        <p:spPr>
          <a:xfrm>
            <a:off x="4003715" y="4457581"/>
            <a:ext cx="171688"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2</a:t>
            </a:r>
            <a:endParaRPr lang="en-US" sz="2400" dirty="0"/>
          </a:p>
        </p:txBody>
      </p:sp>
      <p:sp>
        <p:nvSpPr>
          <p:cNvPr id="10" name="Text 6"/>
          <p:cNvSpPr/>
          <p:nvPr/>
        </p:nvSpPr>
        <p:spPr>
          <a:xfrm>
            <a:off x="6465213" y="4063960"/>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Java</a:t>
            </a:r>
            <a:endParaRPr lang="en-US" sz="2150" dirty="0"/>
          </a:p>
        </p:txBody>
      </p:sp>
      <p:sp>
        <p:nvSpPr>
          <p:cNvPr id="11" name="Text 7"/>
          <p:cNvSpPr/>
          <p:nvPr/>
        </p:nvSpPr>
        <p:spPr>
          <a:xfrm>
            <a:off x="6465213" y="4554974"/>
            <a:ext cx="7054334"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Langage orienté objet, utilisé pour le développement d'applications web et mobiles.</a:t>
            </a:r>
            <a:endParaRPr lang="en-US" sz="1900" dirty="0"/>
          </a:p>
        </p:txBody>
      </p:sp>
      <p:sp>
        <p:nvSpPr>
          <p:cNvPr id="12" name="Shape 8"/>
          <p:cNvSpPr/>
          <p:nvPr/>
        </p:nvSpPr>
        <p:spPr>
          <a:xfrm>
            <a:off x="6280071" y="5607487"/>
            <a:ext cx="7424618" cy="15240"/>
          </a:xfrm>
          <a:prstGeom prst="roundRect">
            <a:avLst>
              <a:gd name="adj" fmla="val 2430000"/>
            </a:avLst>
          </a:prstGeom>
          <a:solidFill>
            <a:srgbClr val="29DDDA"/>
          </a:solidFill>
          <a:ln/>
        </p:spPr>
      </p:sp>
      <p:pic>
        <p:nvPicPr>
          <p:cNvPr id="13" name="Image 2" descr="preencoded.png"/>
          <p:cNvPicPr>
            <a:picLocks noChangeAspect="1"/>
          </p:cNvPicPr>
          <p:nvPr/>
        </p:nvPicPr>
        <p:blipFill>
          <a:blip r:embed="rId5"/>
          <a:stretch>
            <a:fillRect/>
          </a:stretch>
        </p:blipFill>
        <p:spPr>
          <a:xfrm>
            <a:off x="896183" y="5653564"/>
            <a:ext cx="6386632" cy="1774746"/>
          </a:xfrm>
          <a:prstGeom prst="rect">
            <a:avLst/>
          </a:prstGeom>
        </p:spPr>
      </p:pic>
      <p:sp>
        <p:nvSpPr>
          <p:cNvPr id="14" name="Text 9"/>
          <p:cNvSpPr/>
          <p:nvPr/>
        </p:nvSpPr>
        <p:spPr>
          <a:xfrm>
            <a:off x="3999071" y="6294001"/>
            <a:ext cx="180737"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3</a:t>
            </a:r>
            <a:endParaRPr lang="en-US" sz="2400" dirty="0"/>
          </a:p>
        </p:txBody>
      </p:sp>
      <p:sp>
        <p:nvSpPr>
          <p:cNvPr id="15" name="Text 10"/>
          <p:cNvSpPr/>
          <p:nvPr/>
        </p:nvSpPr>
        <p:spPr>
          <a:xfrm>
            <a:off x="7529632" y="5900380"/>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C++</a:t>
            </a:r>
            <a:endParaRPr lang="en-US" sz="2150" dirty="0"/>
          </a:p>
        </p:txBody>
      </p:sp>
      <p:sp>
        <p:nvSpPr>
          <p:cNvPr id="16" name="Text 11"/>
          <p:cNvSpPr/>
          <p:nvPr/>
        </p:nvSpPr>
        <p:spPr>
          <a:xfrm>
            <a:off x="7529632" y="6391394"/>
            <a:ext cx="5989915"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Langage puissant, utilisé pour le développement de jeux et de systèmes d'exploitation.</a:t>
            </a:r>
            <a:endParaRPr lang="en-US" sz="1900" dirty="0"/>
          </a:p>
        </p:txBody>
      </p:sp>
      <p:sp>
        <p:nvSpPr>
          <p:cNvPr id="17" name="TextBox 16"/>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anim calcmode="lin" valueType="num">
                                      <p:cBhvr>
                                        <p:cTn id="41" dur="1000" fill="hold"/>
                                        <p:tgtEl>
                                          <p:spTgt spid="6"/>
                                        </p:tgtEl>
                                        <p:attrNameLst>
                                          <p:attrName>ppt_x</p:attrName>
                                        </p:attrNameLst>
                                      </p:cBhvr>
                                      <p:tavLst>
                                        <p:tav tm="0">
                                          <p:val>
                                            <p:strVal val="#ppt_x"/>
                                          </p:val>
                                        </p:tav>
                                        <p:tav tm="100000">
                                          <p:val>
                                            <p:strVal val="#ppt_x"/>
                                          </p:val>
                                        </p:tav>
                                      </p:tavLst>
                                    </p:anim>
                                    <p:anim calcmode="lin" valueType="num">
                                      <p:cBhvr>
                                        <p:cTn id="4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1000"/>
                                        <p:tgtEl>
                                          <p:spTgt spid="8"/>
                                        </p:tgtEl>
                                      </p:cBhvr>
                                    </p:animEffect>
                                    <p:anim calcmode="lin" valueType="num">
                                      <p:cBhvr>
                                        <p:cTn id="48" dur="1000" fill="hold"/>
                                        <p:tgtEl>
                                          <p:spTgt spid="8"/>
                                        </p:tgtEl>
                                        <p:attrNameLst>
                                          <p:attrName>ppt_x</p:attrName>
                                        </p:attrNameLst>
                                      </p:cBhvr>
                                      <p:tavLst>
                                        <p:tav tm="0">
                                          <p:val>
                                            <p:strVal val="#ppt_x"/>
                                          </p:val>
                                        </p:tav>
                                        <p:tav tm="100000">
                                          <p:val>
                                            <p:strVal val="#ppt_x"/>
                                          </p:val>
                                        </p:tav>
                                      </p:tavLst>
                                    </p:anim>
                                    <p:anim calcmode="lin" valueType="num">
                                      <p:cBhvr>
                                        <p:cTn id="4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1000"/>
                                        <p:tgtEl>
                                          <p:spTgt spid="9"/>
                                        </p:tgtEl>
                                      </p:cBhvr>
                                    </p:animEffect>
                                    <p:anim calcmode="lin" valueType="num">
                                      <p:cBhvr>
                                        <p:cTn id="62" dur="1000" fill="hold"/>
                                        <p:tgtEl>
                                          <p:spTgt spid="9"/>
                                        </p:tgtEl>
                                        <p:attrNameLst>
                                          <p:attrName>ppt_x</p:attrName>
                                        </p:attrNameLst>
                                      </p:cBhvr>
                                      <p:tavLst>
                                        <p:tav tm="0">
                                          <p:val>
                                            <p:strVal val="#ppt_x"/>
                                          </p:val>
                                        </p:tav>
                                        <p:tav tm="100000">
                                          <p:val>
                                            <p:strVal val="#ppt_x"/>
                                          </p:val>
                                        </p:tav>
                                      </p:tavLst>
                                    </p:anim>
                                    <p:anim calcmode="lin" valueType="num">
                                      <p:cBhvr>
                                        <p:cTn id="6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fade">
                                      <p:cBhvr>
                                        <p:cTn id="68" dur="1000"/>
                                        <p:tgtEl>
                                          <p:spTgt spid="10"/>
                                        </p:tgtEl>
                                      </p:cBhvr>
                                    </p:animEffect>
                                    <p:anim calcmode="lin" valueType="num">
                                      <p:cBhvr>
                                        <p:cTn id="69" dur="1000" fill="hold"/>
                                        <p:tgtEl>
                                          <p:spTgt spid="10"/>
                                        </p:tgtEl>
                                        <p:attrNameLst>
                                          <p:attrName>ppt_x</p:attrName>
                                        </p:attrNameLst>
                                      </p:cBhvr>
                                      <p:tavLst>
                                        <p:tav tm="0">
                                          <p:val>
                                            <p:strVal val="#ppt_x"/>
                                          </p:val>
                                        </p:tav>
                                        <p:tav tm="100000">
                                          <p:val>
                                            <p:strVal val="#ppt_x"/>
                                          </p:val>
                                        </p:tav>
                                      </p:tavLst>
                                    </p:anim>
                                    <p:anim calcmode="lin" valueType="num">
                                      <p:cBhvr>
                                        <p:cTn id="7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1000"/>
                                        <p:tgtEl>
                                          <p:spTgt spid="11"/>
                                        </p:tgtEl>
                                      </p:cBhvr>
                                    </p:animEffect>
                                    <p:anim calcmode="lin" valueType="num">
                                      <p:cBhvr>
                                        <p:cTn id="76" dur="1000" fill="hold"/>
                                        <p:tgtEl>
                                          <p:spTgt spid="11"/>
                                        </p:tgtEl>
                                        <p:attrNameLst>
                                          <p:attrName>ppt_x</p:attrName>
                                        </p:attrNameLst>
                                      </p:cBhvr>
                                      <p:tavLst>
                                        <p:tav tm="0">
                                          <p:val>
                                            <p:strVal val="#ppt_x"/>
                                          </p:val>
                                        </p:tav>
                                        <p:tav tm="100000">
                                          <p:val>
                                            <p:strVal val="#ppt_x"/>
                                          </p:val>
                                        </p:tav>
                                      </p:tavLst>
                                    </p:anim>
                                    <p:anim calcmode="lin" valueType="num">
                                      <p:cBhvr>
                                        <p:cTn id="7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1000"/>
                                        <p:tgtEl>
                                          <p:spTgt spid="13"/>
                                        </p:tgtEl>
                                      </p:cBhvr>
                                    </p:animEffect>
                                    <p:anim calcmode="lin" valueType="num">
                                      <p:cBhvr>
                                        <p:cTn id="83" dur="1000" fill="hold"/>
                                        <p:tgtEl>
                                          <p:spTgt spid="13"/>
                                        </p:tgtEl>
                                        <p:attrNameLst>
                                          <p:attrName>ppt_x</p:attrName>
                                        </p:attrNameLst>
                                      </p:cBhvr>
                                      <p:tavLst>
                                        <p:tav tm="0">
                                          <p:val>
                                            <p:strVal val="#ppt_x"/>
                                          </p:val>
                                        </p:tav>
                                        <p:tav tm="100000">
                                          <p:val>
                                            <p:strVal val="#ppt_x"/>
                                          </p:val>
                                        </p:tav>
                                      </p:tavLst>
                                    </p:anim>
                                    <p:anim calcmode="lin" valueType="num">
                                      <p:cBhvr>
                                        <p:cTn id="8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fade">
                                      <p:cBhvr>
                                        <p:cTn id="89" dur="1000"/>
                                        <p:tgtEl>
                                          <p:spTgt spid="14"/>
                                        </p:tgtEl>
                                      </p:cBhvr>
                                    </p:animEffect>
                                    <p:anim calcmode="lin" valueType="num">
                                      <p:cBhvr>
                                        <p:cTn id="90" dur="1000" fill="hold"/>
                                        <p:tgtEl>
                                          <p:spTgt spid="14"/>
                                        </p:tgtEl>
                                        <p:attrNameLst>
                                          <p:attrName>ppt_x</p:attrName>
                                        </p:attrNameLst>
                                      </p:cBhvr>
                                      <p:tavLst>
                                        <p:tav tm="0">
                                          <p:val>
                                            <p:strVal val="#ppt_x"/>
                                          </p:val>
                                        </p:tav>
                                        <p:tav tm="100000">
                                          <p:val>
                                            <p:strVal val="#ppt_x"/>
                                          </p:val>
                                        </p:tav>
                                      </p:tavLst>
                                    </p:anim>
                                    <p:anim calcmode="lin" valueType="num">
                                      <p:cBhvr>
                                        <p:cTn id="9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fade">
                                      <p:cBhvr>
                                        <p:cTn id="96" dur="1000"/>
                                        <p:tgtEl>
                                          <p:spTgt spid="15"/>
                                        </p:tgtEl>
                                      </p:cBhvr>
                                    </p:animEffect>
                                    <p:anim calcmode="lin" valueType="num">
                                      <p:cBhvr>
                                        <p:cTn id="97" dur="1000" fill="hold"/>
                                        <p:tgtEl>
                                          <p:spTgt spid="15"/>
                                        </p:tgtEl>
                                        <p:attrNameLst>
                                          <p:attrName>ppt_x</p:attrName>
                                        </p:attrNameLst>
                                      </p:cBhvr>
                                      <p:tavLst>
                                        <p:tav tm="0">
                                          <p:val>
                                            <p:strVal val="#ppt_x"/>
                                          </p:val>
                                        </p:tav>
                                        <p:tav tm="100000">
                                          <p:val>
                                            <p:strVal val="#ppt_x"/>
                                          </p:val>
                                        </p:tav>
                                      </p:tavLst>
                                    </p:anim>
                                    <p:anim calcmode="lin" valueType="num">
                                      <p:cBhvr>
                                        <p:cTn id="9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16"/>
                                        </p:tgtEl>
                                        <p:attrNameLst>
                                          <p:attrName>style.visibility</p:attrName>
                                        </p:attrNameLst>
                                      </p:cBhvr>
                                      <p:to>
                                        <p:strVal val="visible"/>
                                      </p:to>
                                    </p:set>
                                    <p:animEffect transition="in" filter="fade">
                                      <p:cBhvr>
                                        <p:cTn id="103" dur="1000"/>
                                        <p:tgtEl>
                                          <p:spTgt spid="16"/>
                                        </p:tgtEl>
                                      </p:cBhvr>
                                    </p:animEffect>
                                    <p:anim calcmode="lin" valueType="num">
                                      <p:cBhvr>
                                        <p:cTn id="104" dur="1000" fill="hold"/>
                                        <p:tgtEl>
                                          <p:spTgt spid="16"/>
                                        </p:tgtEl>
                                        <p:attrNameLst>
                                          <p:attrName>ppt_x</p:attrName>
                                        </p:attrNameLst>
                                      </p:cBhvr>
                                      <p:tavLst>
                                        <p:tav tm="0">
                                          <p:val>
                                            <p:strVal val="#ppt_x"/>
                                          </p:val>
                                        </p:tav>
                                        <p:tav tm="100000">
                                          <p:val>
                                            <p:strVal val="#ppt_x"/>
                                          </p:val>
                                        </p:tav>
                                      </p:tavLst>
                                    </p:anim>
                                    <p:anim calcmode="lin" valueType="num">
                                      <p:cBhvr>
                                        <p:cTn id="10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9" grpId="0" animBg="1"/>
      <p:bldP spid="10" grpId="0" animBg="1"/>
      <p:bldP spid="11"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4037" y="1134547"/>
            <a:ext cx="7608570"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Applications des Algorithmes</a:t>
            </a:r>
            <a:endParaRPr lang="en-US" sz="4300" dirty="0"/>
          </a:p>
        </p:txBody>
      </p:sp>
      <p:sp>
        <p:nvSpPr>
          <p:cNvPr id="3" name="Shape 1"/>
          <p:cNvSpPr/>
          <p:nvPr/>
        </p:nvSpPr>
        <p:spPr>
          <a:xfrm>
            <a:off x="864037" y="2314099"/>
            <a:ext cx="2150269" cy="1379696"/>
          </a:xfrm>
          <a:prstGeom prst="roundRect">
            <a:avLst>
              <a:gd name="adj" fmla="val 26842"/>
            </a:avLst>
          </a:prstGeom>
          <a:solidFill>
            <a:srgbClr val="0A081B"/>
          </a:solidFill>
          <a:ln w="30480">
            <a:solidFill>
              <a:srgbClr val="16FFBB"/>
            </a:solidFill>
            <a:prstDash val="solid"/>
          </a:ln>
        </p:spPr>
      </p:sp>
      <p:sp>
        <p:nvSpPr>
          <p:cNvPr id="4" name="Text 2"/>
          <p:cNvSpPr/>
          <p:nvPr/>
        </p:nvSpPr>
        <p:spPr>
          <a:xfrm>
            <a:off x="1141333" y="2757011"/>
            <a:ext cx="133588"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1</a:t>
            </a:r>
            <a:endParaRPr lang="en-US" sz="2400" dirty="0"/>
          </a:p>
        </p:txBody>
      </p:sp>
      <p:sp>
        <p:nvSpPr>
          <p:cNvPr id="5" name="Text 3"/>
          <p:cNvSpPr/>
          <p:nvPr/>
        </p:nvSpPr>
        <p:spPr>
          <a:xfrm>
            <a:off x="3261122" y="256091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Navigation</a:t>
            </a:r>
            <a:endParaRPr lang="en-US" sz="2150" dirty="0"/>
          </a:p>
        </p:txBody>
      </p:sp>
      <p:sp>
        <p:nvSpPr>
          <p:cNvPr id="6" name="Text 4"/>
          <p:cNvSpPr/>
          <p:nvPr/>
        </p:nvSpPr>
        <p:spPr>
          <a:xfrm>
            <a:off x="3261122" y="3051929"/>
            <a:ext cx="6294596" cy="395049"/>
          </a:xfrm>
          <a:prstGeom prst="rect">
            <a:avLst/>
          </a:prstGeom>
          <a:noFill/>
          <a:ln/>
        </p:spPr>
        <p:txBody>
          <a:bodyPr wrap="non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Calculer les itinéraires les plus rapides et les plus efficaces.</a:t>
            </a:r>
            <a:endParaRPr lang="en-US" sz="1900" dirty="0"/>
          </a:p>
        </p:txBody>
      </p:sp>
      <p:sp>
        <p:nvSpPr>
          <p:cNvPr id="7" name="Shape 5"/>
          <p:cNvSpPr/>
          <p:nvPr/>
        </p:nvSpPr>
        <p:spPr>
          <a:xfrm>
            <a:off x="3137654" y="3678555"/>
            <a:ext cx="10505361" cy="15240"/>
          </a:xfrm>
          <a:prstGeom prst="roundRect">
            <a:avLst>
              <a:gd name="adj" fmla="val 2430000"/>
            </a:avLst>
          </a:prstGeom>
          <a:solidFill>
            <a:srgbClr val="16FFBB"/>
          </a:solidFill>
          <a:ln/>
        </p:spPr>
      </p:sp>
      <p:sp>
        <p:nvSpPr>
          <p:cNvPr id="8" name="Shape 6"/>
          <p:cNvSpPr/>
          <p:nvPr/>
        </p:nvSpPr>
        <p:spPr>
          <a:xfrm>
            <a:off x="864037" y="3817144"/>
            <a:ext cx="4300657" cy="1379696"/>
          </a:xfrm>
          <a:prstGeom prst="roundRect">
            <a:avLst>
              <a:gd name="adj" fmla="val 26842"/>
            </a:avLst>
          </a:prstGeom>
          <a:solidFill>
            <a:srgbClr val="0A081B"/>
          </a:solidFill>
          <a:ln w="30480">
            <a:solidFill>
              <a:srgbClr val="29DDDA"/>
            </a:solidFill>
            <a:prstDash val="solid"/>
          </a:ln>
        </p:spPr>
      </p:sp>
      <p:sp>
        <p:nvSpPr>
          <p:cNvPr id="9" name="Text 7"/>
          <p:cNvSpPr/>
          <p:nvPr/>
        </p:nvSpPr>
        <p:spPr>
          <a:xfrm>
            <a:off x="1141333" y="4260056"/>
            <a:ext cx="171688"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2</a:t>
            </a:r>
            <a:endParaRPr lang="en-US" sz="2400" dirty="0"/>
          </a:p>
        </p:txBody>
      </p:sp>
      <p:sp>
        <p:nvSpPr>
          <p:cNvPr id="10" name="Text 8"/>
          <p:cNvSpPr/>
          <p:nvPr/>
        </p:nvSpPr>
        <p:spPr>
          <a:xfrm>
            <a:off x="5411510" y="4063960"/>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Recommandations</a:t>
            </a:r>
            <a:endParaRPr lang="en-US" sz="2150" dirty="0"/>
          </a:p>
        </p:txBody>
      </p:sp>
      <p:sp>
        <p:nvSpPr>
          <p:cNvPr id="11" name="Text 9"/>
          <p:cNvSpPr/>
          <p:nvPr/>
        </p:nvSpPr>
        <p:spPr>
          <a:xfrm>
            <a:off x="5411510" y="4554974"/>
            <a:ext cx="6398538" cy="395049"/>
          </a:xfrm>
          <a:prstGeom prst="rect">
            <a:avLst/>
          </a:prstGeom>
          <a:noFill/>
          <a:ln/>
        </p:spPr>
        <p:txBody>
          <a:bodyPr wrap="non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Proposer des produits, des amis et des contenus pertinents.</a:t>
            </a:r>
            <a:endParaRPr lang="en-US" sz="1900" dirty="0"/>
          </a:p>
        </p:txBody>
      </p:sp>
      <p:sp>
        <p:nvSpPr>
          <p:cNvPr id="12" name="Shape 10"/>
          <p:cNvSpPr/>
          <p:nvPr/>
        </p:nvSpPr>
        <p:spPr>
          <a:xfrm>
            <a:off x="5288042" y="5181600"/>
            <a:ext cx="8354973" cy="15240"/>
          </a:xfrm>
          <a:prstGeom prst="roundRect">
            <a:avLst>
              <a:gd name="adj" fmla="val 2430000"/>
            </a:avLst>
          </a:prstGeom>
          <a:solidFill>
            <a:srgbClr val="29DDDA"/>
          </a:solidFill>
          <a:ln/>
        </p:spPr>
      </p:sp>
      <p:sp>
        <p:nvSpPr>
          <p:cNvPr id="13" name="Shape 11"/>
          <p:cNvSpPr/>
          <p:nvPr/>
        </p:nvSpPr>
        <p:spPr>
          <a:xfrm>
            <a:off x="864037" y="5320189"/>
            <a:ext cx="6451163" cy="1774746"/>
          </a:xfrm>
          <a:prstGeom prst="roundRect">
            <a:avLst>
              <a:gd name="adj" fmla="val 20867"/>
            </a:avLst>
          </a:prstGeom>
          <a:solidFill>
            <a:srgbClr val="0A081B"/>
          </a:solidFill>
          <a:ln w="30480">
            <a:solidFill>
              <a:srgbClr val="37A7E7"/>
            </a:solidFill>
            <a:prstDash val="solid"/>
          </a:ln>
        </p:spPr>
      </p:sp>
      <p:sp>
        <p:nvSpPr>
          <p:cNvPr id="14" name="Text 12"/>
          <p:cNvSpPr/>
          <p:nvPr/>
        </p:nvSpPr>
        <p:spPr>
          <a:xfrm>
            <a:off x="1141333" y="5960626"/>
            <a:ext cx="180737"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3</a:t>
            </a:r>
            <a:endParaRPr lang="en-US" sz="2400" dirty="0"/>
          </a:p>
        </p:txBody>
      </p:sp>
      <p:sp>
        <p:nvSpPr>
          <p:cNvPr id="15" name="Text 13"/>
          <p:cNvSpPr/>
          <p:nvPr/>
        </p:nvSpPr>
        <p:spPr>
          <a:xfrm>
            <a:off x="7562017" y="556700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Détection de fraude</a:t>
            </a:r>
            <a:endParaRPr lang="en-US" sz="2150" dirty="0"/>
          </a:p>
        </p:txBody>
      </p:sp>
      <p:sp>
        <p:nvSpPr>
          <p:cNvPr id="16" name="Text 14"/>
          <p:cNvSpPr/>
          <p:nvPr/>
        </p:nvSpPr>
        <p:spPr>
          <a:xfrm>
            <a:off x="7562017" y="6058019"/>
            <a:ext cx="5957530"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Identifier les activités suspectes et prévenir les fraudes financières.</a:t>
            </a:r>
            <a:endParaRPr lang="en-US" sz="1900" dirty="0"/>
          </a:p>
        </p:txBody>
      </p:sp>
      <p:sp>
        <p:nvSpPr>
          <p:cNvPr id="17" name="TextBox 16"/>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heel(1)">
                                      <p:cBhvr>
                                        <p:cTn id="43" dur="20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circle(in)">
                                      <p:cBhvr>
                                        <p:cTn id="55" dur="20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randombar(horizontal)">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1000"/>
                                        <p:tgtEl>
                                          <p:spTgt spid="11"/>
                                        </p:tgtEl>
                                      </p:cBhvr>
                                    </p:animEffect>
                                    <p:anim calcmode="lin" valueType="num">
                                      <p:cBhvr>
                                        <p:cTn id="66" dur="1000" fill="hold"/>
                                        <p:tgtEl>
                                          <p:spTgt spid="11"/>
                                        </p:tgtEl>
                                        <p:attrNameLst>
                                          <p:attrName>ppt_x</p:attrName>
                                        </p:attrNameLst>
                                      </p:cBhvr>
                                      <p:tavLst>
                                        <p:tav tm="0">
                                          <p:val>
                                            <p:strVal val="#ppt_x"/>
                                          </p:val>
                                        </p:tav>
                                        <p:tav tm="100000">
                                          <p:val>
                                            <p:strVal val="#ppt_x"/>
                                          </p:val>
                                        </p:tav>
                                      </p:tavLst>
                                    </p:anim>
                                    <p:anim calcmode="lin" valueType="num">
                                      <p:cBhvr>
                                        <p:cTn id="6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heel(1)">
                                      <p:cBhvr>
                                        <p:cTn id="72" dur="20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1000"/>
                                        <p:tgtEl>
                                          <p:spTgt spid="14"/>
                                        </p:tgtEl>
                                      </p:cBhvr>
                                    </p:animEffect>
                                    <p:anim calcmode="lin" valueType="num">
                                      <p:cBhvr>
                                        <p:cTn id="78" dur="1000" fill="hold"/>
                                        <p:tgtEl>
                                          <p:spTgt spid="14"/>
                                        </p:tgtEl>
                                        <p:attrNameLst>
                                          <p:attrName>ppt_x</p:attrName>
                                        </p:attrNameLst>
                                      </p:cBhvr>
                                      <p:tavLst>
                                        <p:tav tm="0">
                                          <p:val>
                                            <p:strVal val="#ppt_x"/>
                                          </p:val>
                                        </p:tav>
                                        <p:tav tm="100000">
                                          <p:val>
                                            <p:strVal val="#ppt_x"/>
                                          </p:val>
                                        </p:tav>
                                      </p:tavLst>
                                    </p:anim>
                                    <p:anim calcmode="lin" valueType="num">
                                      <p:cBhvr>
                                        <p:cTn id="7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4" presetClass="entr" presetSubtype="10" fill="hold" grpId="0" nodeType="click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randombar(horizontal)">
                                      <p:cBhvr>
                                        <p:cTn id="84" dur="500"/>
                                        <p:tgtEl>
                                          <p:spTgt spid="15"/>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1000"/>
                                        <p:tgtEl>
                                          <p:spTgt spid="16"/>
                                        </p:tgtEl>
                                      </p:cBhvr>
                                    </p:animEffect>
                                    <p:anim calcmode="lin" valueType="num">
                                      <p:cBhvr>
                                        <p:cTn id="90" dur="1000" fill="hold"/>
                                        <p:tgtEl>
                                          <p:spTgt spid="16"/>
                                        </p:tgtEl>
                                        <p:attrNameLst>
                                          <p:attrName>ppt_x</p:attrName>
                                        </p:attrNameLst>
                                      </p:cBhvr>
                                      <p:tavLst>
                                        <p:tav tm="0">
                                          <p:val>
                                            <p:strVal val="#ppt_x"/>
                                          </p:val>
                                        </p:tav>
                                        <p:tav tm="100000">
                                          <p:val>
                                            <p:strVal val="#ppt_x"/>
                                          </p:val>
                                        </p:tav>
                                      </p:tavLst>
                                    </p:anim>
                                    <p:anim calcmode="lin" valueType="num">
                                      <p:cBhvr>
                                        <p:cTn id="9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9" grpId="0" animBg="1"/>
      <p:bldP spid="10" grpId="0" animBg="1"/>
      <p:bldP spid="11" grpId="0" animBg="1"/>
      <p:bldP spid="14" grpId="0" animBg="1"/>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5" name="TextBox 4"/>
          <p:cNvSpPr txBox="1"/>
          <p:nvPr/>
        </p:nvSpPr>
        <p:spPr>
          <a:xfrm>
            <a:off x="12898421" y="7801718"/>
            <a:ext cx="1613646" cy="289441"/>
          </a:xfrm>
          <a:prstGeom prst="round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MA" sz="1100" dirty="0" smtClean="0">
                <a:ln w="0"/>
                <a:solidFill>
                  <a:schemeClr val="tx1"/>
                </a:solidFill>
                <a:effectLst>
                  <a:outerShdw blurRad="38100" dist="19050" dir="2700000" algn="tl" rotWithShape="0">
                    <a:schemeClr val="dk1">
                      <a:alpha val="40000"/>
                    </a:schemeClr>
                  </a:outerShdw>
                </a:effectLst>
              </a:rPr>
              <a:t>Made </a:t>
            </a:r>
            <a:r>
              <a:rPr lang="fr-MA" sz="1100" dirty="0" err="1" smtClean="0">
                <a:ln w="0"/>
                <a:solidFill>
                  <a:schemeClr val="tx1"/>
                </a:solidFill>
                <a:effectLst>
                  <a:outerShdw blurRad="38100" dist="19050" dir="2700000" algn="tl" rotWithShape="0">
                    <a:schemeClr val="dk1">
                      <a:alpha val="40000"/>
                    </a:schemeClr>
                  </a:outerShdw>
                </a:effectLst>
              </a:rPr>
              <a:t>whith</a:t>
            </a:r>
            <a:r>
              <a:rPr lang="fr-MA" sz="1100" dirty="0" smtClean="0">
                <a:ln w="0"/>
                <a:solidFill>
                  <a:schemeClr val="tx1"/>
                </a:solidFill>
                <a:effectLst>
                  <a:outerShdw blurRad="38100" dist="19050" dir="2700000" algn="tl" rotWithShape="0">
                    <a:schemeClr val="dk1">
                      <a:alpha val="40000"/>
                    </a:schemeClr>
                  </a:outerShdw>
                </a:effectLst>
              </a:rPr>
              <a:t> Abdelilah</a:t>
            </a:r>
            <a:endParaRPr lang="fr-MA" sz="1100" dirty="0">
              <a:solidFill>
                <a:srgbClr val="FF0000"/>
              </a:solidFill>
            </a:endParaRPr>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2256234"/>
            <a:ext cx="7415927" cy="1371600"/>
          </a:xfrm>
          <a:prstGeom prst="rect">
            <a:avLst/>
          </a:prstGeom>
          <a:noFill/>
          <a:ln/>
        </p:spPr>
        <p:txBody>
          <a:bodyPr wrap="squar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Conclusion et Perspectives d'Avenir</a:t>
            </a:r>
            <a:endParaRPr lang="en-US" sz="4300" dirty="0"/>
          </a:p>
        </p:txBody>
      </p:sp>
      <p:sp>
        <p:nvSpPr>
          <p:cNvPr id="4" name="Text 1"/>
          <p:cNvSpPr/>
          <p:nvPr/>
        </p:nvSpPr>
        <p:spPr>
          <a:xfrm>
            <a:off x="864037" y="3998119"/>
            <a:ext cx="7415927" cy="1975247"/>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Les algorithmes et la programmation sont des forces motrices de l'innovation et du progrès. Ils transforment notre monde et ouvrent des possibilités infinies. Le développement continu de l'intelligence artificielle et des technologies quantiques promet des avancées encore plus révolutionnaires dans le domaine de l'algorithmique.</a:t>
            </a:r>
            <a:endParaRPr lang="en-US"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80">
                                          <p:stCondLst>
                                            <p:cond delay="0"/>
                                          </p:stCondLst>
                                        </p:cTn>
                                        <p:tgtEl>
                                          <p:spTgt spid="2"/>
                                        </p:tgtEl>
                                      </p:cBhvr>
                                    </p:animEffect>
                                    <p:anim calcmode="lin" valueType="num">
                                      <p:cBhvr>
                                        <p:cTn id="15"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0" dur="26">
                                          <p:stCondLst>
                                            <p:cond delay="650"/>
                                          </p:stCondLst>
                                        </p:cTn>
                                        <p:tgtEl>
                                          <p:spTgt spid="2"/>
                                        </p:tgtEl>
                                      </p:cBhvr>
                                      <p:to x="100000" y="60000"/>
                                    </p:animScale>
                                    <p:animScale>
                                      <p:cBhvr>
                                        <p:cTn id="21" dur="166" decel="50000">
                                          <p:stCondLst>
                                            <p:cond delay="676"/>
                                          </p:stCondLst>
                                        </p:cTn>
                                        <p:tgtEl>
                                          <p:spTgt spid="2"/>
                                        </p:tgtEl>
                                      </p:cBhvr>
                                      <p:to x="100000" y="100000"/>
                                    </p:animScale>
                                    <p:animScale>
                                      <p:cBhvr>
                                        <p:cTn id="22" dur="26">
                                          <p:stCondLst>
                                            <p:cond delay="1312"/>
                                          </p:stCondLst>
                                        </p:cTn>
                                        <p:tgtEl>
                                          <p:spTgt spid="2"/>
                                        </p:tgtEl>
                                      </p:cBhvr>
                                      <p:to x="100000" y="80000"/>
                                    </p:animScale>
                                    <p:animScale>
                                      <p:cBhvr>
                                        <p:cTn id="23" dur="166" decel="50000">
                                          <p:stCondLst>
                                            <p:cond delay="1338"/>
                                          </p:stCondLst>
                                        </p:cTn>
                                        <p:tgtEl>
                                          <p:spTgt spid="2"/>
                                        </p:tgtEl>
                                      </p:cBhvr>
                                      <p:to x="100000" y="100000"/>
                                    </p:animScale>
                                    <p:animScale>
                                      <p:cBhvr>
                                        <p:cTn id="24" dur="26">
                                          <p:stCondLst>
                                            <p:cond delay="1642"/>
                                          </p:stCondLst>
                                        </p:cTn>
                                        <p:tgtEl>
                                          <p:spTgt spid="2"/>
                                        </p:tgtEl>
                                      </p:cBhvr>
                                      <p:to x="100000" y="90000"/>
                                    </p:animScale>
                                    <p:animScale>
                                      <p:cBhvr>
                                        <p:cTn id="25" dur="166" decel="50000">
                                          <p:stCondLst>
                                            <p:cond delay="1668"/>
                                          </p:stCondLst>
                                        </p:cTn>
                                        <p:tgtEl>
                                          <p:spTgt spid="2"/>
                                        </p:tgtEl>
                                      </p:cBhvr>
                                      <p:to x="100000" y="100000"/>
                                    </p:animScale>
                                    <p:animScale>
                                      <p:cBhvr>
                                        <p:cTn id="26" dur="26">
                                          <p:stCondLst>
                                            <p:cond delay="1808"/>
                                          </p:stCondLst>
                                        </p:cTn>
                                        <p:tgtEl>
                                          <p:spTgt spid="2"/>
                                        </p:tgtEl>
                                      </p:cBhvr>
                                      <p:to x="100000" y="95000"/>
                                    </p:animScale>
                                    <p:animScale>
                                      <p:cBhvr>
                                        <p:cTn id="27" dur="166" decel="50000">
                                          <p:stCondLst>
                                            <p:cond delay="1834"/>
                                          </p:stCondLst>
                                        </p:cTn>
                                        <p:tgtEl>
                                          <p:spTgt spid="2"/>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anim calcmode="lin" valueType="num">
                                      <p:cBhvr>
                                        <p:cTn id="33" dur="1000" fill="hold"/>
                                        <p:tgtEl>
                                          <p:spTgt spid="4"/>
                                        </p:tgtEl>
                                        <p:attrNameLst>
                                          <p:attrName>ppt_x</p:attrName>
                                        </p:attrNameLst>
                                      </p:cBhvr>
                                      <p:tavLst>
                                        <p:tav tm="0">
                                          <p:val>
                                            <p:strVal val="#ppt_x"/>
                                          </p:val>
                                        </p:tav>
                                        <p:tav tm="100000">
                                          <p:val>
                                            <p:strVal val="#ppt_x"/>
                                          </p:val>
                                        </p:tav>
                                      </p:tavLst>
                                    </p:anim>
                                    <p:anim calcmode="lin" valueType="num">
                                      <p:cBhvr>
                                        <p:cTn id="3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3988237" y="3276602"/>
            <a:ext cx="5678278" cy="1132114"/>
          </a:xfrm>
          <a:prstGeom prst="rect">
            <a:avLst/>
          </a:prstGeom>
          <a:noFill/>
          <a:ln/>
        </p:spPr>
        <p:txBody>
          <a:bodyPr vert="wordArtVert" wrap="square" lIns="0" tIns="0" rIns="0" bIns="0" rtlCol="0" anchor="ctr"/>
          <a:lstStyle/>
          <a:p>
            <a:pPr marL="0" indent="0" algn="ctr">
              <a:lnSpc>
                <a:spcPts val="3100"/>
              </a:lnSpc>
              <a:buNone/>
            </a:pPr>
            <a:r>
              <a:rPr lang="en-US" sz="4500" b="1" dirty="0" smtClean="0">
                <a:solidFill>
                  <a:srgbClr val="E0E4E6"/>
                </a:solidFill>
                <a:latin typeface="Maiandra GD" panose="020E0502030308020204" pitchFamily="34" charset="0"/>
                <a:ea typeface="Barlow" pitchFamily="34" charset="-122"/>
                <a:cs typeface="Barlow" pitchFamily="34" charset="-120"/>
              </a:rPr>
              <a:t>Merci pour </a:t>
            </a:r>
            <a:r>
              <a:rPr lang="en-US" sz="4500" b="1" dirty="0" err="1" smtClean="0">
                <a:solidFill>
                  <a:srgbClr val="E0E4E6"/>
                </a:solidFill>
                <a:latin typeface="Maiandra GD" panose="020E0502030308020204" pitchFamily="34" charset="0"/>
                <a:ea typeface="Barlow" pitchFamily="34" charset="-122"/>
                <a:cs typeface="Barlow" pitchFamily="34" charset="-120"/>
              </a:rPr>
              <a:t>vous</a:t>
            </a:r>
            <a:r>
              <a:rPr lang="en-US" sz="4500" b="1" dirty="0" smtClean="0">
                <a:solidFill>
                  <a:srgbClr val="E0E4E6"/>
                </a:solidFill>
                <a:latin typeface="Maiandra GD" panose="020E0502030308020204" pitchFamily="34" charset="0"/>
                <a:ea typeface="Barlow" pitchFamily="34" charset="-122"/>
                <a:cs typeface="Barlow" pitchFamily="34" charset="-120"/>
              </a:rPr>
              <a:t> </a:t>
            </a:r>
            <a:endParaRPr lang="en-US" sz="4500" b="1" dirty="0">
              <a:latin typeface="Maiandra GD" panose="020E0502030308020204" pitchFamily="34" charset="0"/>
            </a:endParaRPr>
          </a:p>
        </p:txBody>
      </p:sp>
      <p:sp>
        <p:nvSpPr>
          <p:cNvPr id="5" name="Rectangle 4"/>
          <p:cNvSpPr/>
          <p:nvPr/>
        </p:nvSpPr>
        <p:spPr>
          <a:xfrm>
            <a:off x="12845143" y="7717971"/>
            <a:ext cx="1774371" cy="5007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MA"/>
          </a:p>
        </p:txBody>
      </p:sp>
      <p:sp>
        <p:nvSpPr>
          <p:cNvPr id="6" name="Text 1"/>
          <p:cNvSpPr/>
          <p:nvPr/>
        </p:nvSpPr>
        <p:spPr>
          <a:xfrm>
            <a:off x="11214318" y="7307376"/>
            <a:ext cx="3261649" cy="410595"/>
          </a:xfrm>
          <a:prstGeom prst="rect">
            <a:avLst/>
          </a:prstGeom>
          <a:noFill/>
          <a:ln/>
        </p:spPr>
        <p:txBody>
          <a:bodyPr wrap="square" lIns="0" tIns="0" rIns="0" bIns="0" rtlCol="0" anchor="t"/>
          <a:lstStyle/>
          <a:p>
            <a:pPr marL="0" indent="0">
              <a:lnSpc>
                <a:spcPts val="3100"/>
              </a:lnSpc>
              <a:buNone/>
            </a:pPr>
            <a:r>
              <a:rPr lang="en-US" sz="1900" dirty="0" err="1" smtClean="0">
                <a:solidFill>
                  <a:srgbClr val="E0E4E6"/>
                </a:solidFill>
                <a:latin typeface="Barlow" pitchFamily="34" charset="0"/>
                <a:ea typeface="Barlow" pitchFamily="34" charset="-122"/>
                <a:cs typeface="Barlow" pitchFamily="34" charset="-120"/>
              </a:rPr>
              <a:t>Presentez</a:t>
            </a:r>
            <a:r>
              <a:rPr lang="en-US" sz="1900" dirty="0" smtClean="0">
                <a:solidFill>
                  <a:srgbClr val="E0E4E6"/>
                </a:solidFill>
                <a:latin typeface="Barlow" pitchFamily="34" charset="0"/>
                <a:ea typeface="Barlow" pitchFamily="34" charset="-122"/>
                <a:cs typeface="Barlow" pitchFamily="34" charset="-120"/>
              </a:rPr>
              <a:t> par </a:t>
            </a:r>
          </a:p>
        </p:txBody>
      </p:sp>
      <p:sp>
        <p:nvSpPr>
          <p:cNvPr id="7" name="Rectangle 6"/>
          <p:cNvSpPr/>
          <p:nvPr/>
        </p:nvSpPr>
        <p:spPr>
          <a:xfrm>
            <a:off x="12537616" y="7737071"/>
            <a:ext cx="1938351" cy="369332"/>
          </a:xfrm>
          <a:prstGeom prst="rect">
            <a:avLst/>
          </a:prstGeom>
        </p:spPr>
        <p:txBody>
          <a:bodyPr wrap="none">
            <a:spAutoFit/>
          </a:bodyPr>
          <a:lstStyle/>
          <a:p>
            <a:r>
              <a:rPr lang="en-US" dirty="0">
                <a:solidFill>
                  <a:srgbClr val="E0E4E6"/>
                </a:solidFill>
                <a:latin typeface="Barlow" pitchFamily="34" charset="0"/>
              </a:rPr>
              <a:t> Abdelilah Eddalili</a:t>
            </a:r>
            <a:endParaRPr lang="fr-MA" dirty="0"/>
          </a:p>
        </p:txBody>
      </p:sp>
    </p:spTree>
    <p:extLst>
      <p:ext uri="{BB962C8B-B14F-4D97-AF65-F5344CB8AC3E}">
        <p14:creationId xmlns:p14="http://schemas.microsoft.com/office/powerpoint/2010/main" val="57792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80">
                                          <p:stCondLst>
                                            <p:cond delay="0"/>
                                          </p:stCondLst>
                                        </p:cTn>
                                        <p:tgtEl>
                                          <p:spTgt spid="7"/>
                                        </p:tgtEl>
                                      </p:cBhvr>
                                    </p:animEffect>
                                    <p:anim calcmode="lin" valueType="num">
                                      <p:cBhvr>
                                        <p:cTn id="23"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8" dur="26">
                                          <p:stCondLst>
                                            <p:cond delay="650"/>
                                          </p:stCondLst>
                                        </p:cTn>
                                        <p:tgtEl>
                                          <p:spTgt spid="7"/>
                                        </p:tgtEl>
                                      </p:cBhvr>
                                      <p:to x="100000" y="60000"/>
                                    </p:animScale>
                                    <p:animScale>
                                      <p:cBhvr>
                                        <p:cTn id="29" dur="166" decel="50000">
                                          <p:stCondLst>
                                            <p:cond delay="676"/>
                                          </p:stCondLst>
                                        </p:cTn>
                                        <p:tgtEl>
                                          <p:spTgt spid="7"/>
                                        </p:tgtEl>
                                      </p:cBhvr>
                                      <p:to x="100000" y="100000"/>
                                    </p:animScale>
                                    <p:animScale>
                                      <p:cBhvr>
                                        <p:cTn id="30" dur="26">
                                          <p:stCondLst>
                                            <p:cond delay="1312"/>
                                          </p:stCondLst>
                                        </p:cTn>
                                        <p:tgtEl>
                                          <p:spTgt spid="7"/>
                                        </p:tgtEl>
                                      </p:cBhvr>
                                      <p:to x="100000" y="80000"/>
                                    </p:animScale>
                                    <p:animScale>
                                      <p:cBhvr>
                                        <p:cTn id="31" dur="166" decel="50000">
                                          <p:stCondLst>
                                            <p:cond delay="1338"/>
                                          </p:stCondLst>
                                        </p:cTn>
                                        <p:tgtEl>
                                          <p:spTgt spid="7"/>
                                        </p:tgtEl>
                                      </p:cBhvr>
                                      <p:to x="100000" y="100000"/>
                                    </p:animScale>
                                    <p:animScale>
                                      <p:cBhvr>
                                        <p:cTn id="32" dur="26">
                                          <p:stCondLst>
                                            <p:cond delay="1642"/>
                                          </p:stCondLst>
                                        </p:cTn>
                                        <p:tgtEl>
                                          <p:spTgt spid="7"/>
                                        </p:tgtEl>
                                      </p:cBhvr>
                                      <p:to x="100000" y="90000"/>
                                    </p:animScale>
                                    <p:animScale>
                                      <p:cBhvr>
                                        <p:cTn id="33" dur="166" decel="50000">
                                          <p:stCondLst>
                                            <p:cond delay="1668"/>
                                          </p:stCondLst>
                                        </p:cTn>
                                        <p:tgtEl>
                                          <p:spTgt spid="7"/>
                                        </p:tgtEl>
                                      </p:cBhvr>
                                      <p:to x="100000" y="100000"/>
                                    </p:animScale>
                                    <p:animScale>
                                      <p:cBhvr>
                                        <p:cTn id="34" dur="26">
                                          <p:stCondLst>
                                            <p:cond delay="1808"/>
                                          </p:stCondLst>
                                        </p:cTn>
                                        <p:tgtEl>
                                          <p:spTgt spid="7"/>
                                        </p:tgtEl>
                                      </p:cBhvr>
                                      <p:to x="100000" y="95000"/>
                                    </p:animScale>
                                    <p:animScale>
                                      <p:cBhvr>
                                        <p:cTn id="35"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520</Words>
  <Application>Microsoft Office PowerPoint</Application>
  <PresentationFormat>Custom</PresentationFormat>
  <Paragraphs>95</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Spline Sans Bold</vt:lpstr>
      <vt:lpstr>Barlow</vt:lpstr>
      <vt:lpstr>Arial</vt:lpstr>
      <vt:lpstr>Maiandra GD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Abdelilah Eddalili</cp:lastModifiedBy>
  <cp:revision>7</cp:revision>
  <dcterms:created xsi:type="dcterms:W3CDTF">2025-01-01T15:42:21Z</dcterms:created>
  <dcterms:modified xsi:type="dcterms:W3CDTF">2025-01-01T22:41:06Z</dcterms:modified>
</cp:coreProperties>
</file>